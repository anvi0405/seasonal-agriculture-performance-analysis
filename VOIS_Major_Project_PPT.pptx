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40"/>
  </p:notesMasterIdLst>
  <p:handoutMasterIdLst>
    <p:handoutMasterId r:id="rId41"/>
  </p:handoutMasterIdLst>
  <p:sldIdLst>
    <p:sldId id="338" r:id="rId5"/>
    <p:sldId id="327" r:id="rId6"/>
    <p:sldId id="315" r:id="rId7"/>
    <p:sldId id="347" r:id="rId8"/>
    <p:sldId id="329" r:id="rId9"/>
    <p:sldId id="348" r:id="rId10"/>
    <p:sldId id="302" r:id="rId11"/>
    <p:sldId id="349" r:id="rId12"/>
    <p:sldId id="350" r:id="rId13"/>
    <p:sldId id="351" r:id="rId14"/>
    <p:sldId id="352" r:id="rId15"/>
    <p:sldId id="354" r:id="rId16"/>
    <p:sldId id="355" r:id="rId17"/>
    <p:sldId id="356" r:id="rId18"/>
    <p:sldId id="357" r:id="rId19"/>
    <p:sldId id="358" r:id="rId20"/>
    <p:sldId id="359" r:id="rId21"/>
    <p:sldId id="360" r:id="rId22"/>
    <p:sldId id="361" r:id="rId23"/>
    <p:sldId id="340" r:id="rId24"/>
    <p:sldId id="344" r:id="rId25"/>
    <p:sldId id="345" r:id="rId26"/>
    <p:sldId id="346" r:id="rId27"/>
    <p:sldId id="362" r:id="rId28"/>
    <p:sldId id="363" r:id="rId29"/>
    <p:sldId id="364" r:id="rId30"/>
    <p:sldId id="365" r:id="rId31"/>
    <p:sldId id="366" r:id="rId32"/>
    <p:sldId id="369" r:id="rId33"/>
    <p:sldId id="341" r:id="rId34"/>
    <p:sldId id="370" r:id="rId35"/>
    <p:sldId id="371" r:id="rId36"/>
    <p:sldId id="342" r:id="rId37"/>
    <p:sldId id="343" r:id="rId38"/>
    <p:sldId id="30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DED7A8-6901-495B-8CE9-64D6A08407FA}" v="35" dt="2026-09-12T17:01:15.27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5" d="100"/>
          <a:sy n="75" d="100"/>
        </p:scale>
        <p:origin x="878" y="22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vi Kanyan" userId="f540ac27fc604c94" providerId="LiveId" clId="{325FA43B-C87D-4C6A-A9BB-4D67E1788274}"/>
    <pc:docChg chg="undo custSel delSld modSld">
      <pc:chgData name="Anvi Kanyan" userId="f540ac27fc604c94" providerId="LiveId" clId="{325FA43B-C87D-4C6A-A9BB-4D67E1788274}" dt="2026-09-12T17:01:15.713" v="260" actId="6549"/>
      <pc:docMkLst>
        <pc:docMk/>
      </pc:docMkLst>
      <pc:sldChg chg="modSp mod modAnim">
        <pc:chgData name="Anvi Kanyan" userId="f540ac27fc604c94" providerId="LiveId" clId="{325FA43B-C87D-4C6A-A9BB-4D67E1788274}" dt="2026-09-12T16:33:12.361" v="213" actId="207"/>
        <pc:sldMkLst>
          <pc:docMk/>
          <pc:sldMk cId="1341901065" sldId="302"/>
        </pc:sldMkLst>
        <pc:spChg chg="mod">
          <ac:chgData name="Anvi Kanyan" userId="f540ac27fc604c94" providerId="LiveId" clId="{325FA43B-C87D-4C6A-A9BB-4D67E1788274}" dt="2026-09-12T16:33:12.361" v="213" actId="207"/>
          <ac:spMkLst>
            <pc:docMk/>
            <pc:sldMk cId="1341901065" sldId="302"/>
            <ac:spMk id="7" creationId="{B21C28F5-3CA3-4B78-B5C9-550C00BB3174}"/>
          </ac:spMkLst>
        </pc:spChg>
      </pc:sldChg>
      <pc:sldChg chg="modSp mod">
        <pc:chgData name="Anvi Kanyan" userId="f540ac27fc604c94" providerId="LiveId" clId="{325FA43B-C87D-4C6A-A9BB-4D67E1788274}" dt="2026-09-12T16:45:21.399" v="234" actId="2711"/>
        <pc:sldMkLst>
          <pc:docMk/>
          <pc:sldMk cId="3401748718" sldId="304"/>
        </pc:sldMkLst>
        <pc:spChg chg="mod">
          <ac:chgData name="Anvi Kanyan" userId="f540ac27fc604c94" providerId="LiveId" clId="{325FA43B-C87D-4C6A-A9BB-4D67E1788274}" dt="2026-09-12T16:44:57.029" v="229" actId="27636"/>
          <ac:spMkLst>
            <pc:docMk/>
            <pc:sldMk cId="3401748718" sldId="304"/>
            <ac:spMk id="3" creationId="{D88C20CF-C1EE-4092-B52D-FD4AB2AB2508}"/>
          </ac:spMkLst>
        </pc:spChg>
        <pc:spChg chg="mod">
          <ac:chgData name="Anvi Kanyan" userId="f540ac27fc604c94" providerId="LiveId" clId="{325FA43B-C87D-4C6A-A9BB-4D67E1788274}" dt="2026-09-12T16:45:21.399" v="234" actId="2711"/>
          <ac:spMkLst>
            <pc:docMk/>
            <pc:sldMk cId="3401748718" sldId="304"/>
            <ac:spMk id="12" creationId="{BC277FD7-925B-4C3D-A364-118403201507}"/>
          </ac:spMkLst>
        </pc:spChg>
      </pc:sldChg>
      <pc:sldChg chg="addSp delSp modSp mod delAnim modAnim">
        <pc:chgData name="Anvi Kanyan" userId="f540ac27fc604c94" providerId="LiveId" clId="{325FA43B-C87D-4C6A-A9BB-4D67E1788274}" dt="2026-09-12T16:31:58.776" v="204" actId="1076"/>
        <pc:sldMkLst>
          <pc:docMk/>
          <pc:sldMk cId="1604013440" sldId="338"/>
        </pc:sldMkLst>
        <pc:spChg chg="del mod">
          <ac:chgData name="Anvi Kanyan" userId="f540ac27fc604c94" providerId="LiveId" clId="{325FA43B-C87D-4C6A-A9BB-4D67E1788274}" dt="2026-09-12T16:24:32.212" v="45" actId="478"/>
          <ac:spMkLst>
            <pc:docMk/>
            <pc:sldMk cId="1604013440" sldId="338"/>
            <ac:spMk id="2" creationId="{7201737A-B873-4D1D-8A41-5ABF5184BC8F}"/>
          </ac:spMkLst>
        </pc:spChg>
        <pc:spChg chg="mod">
          <ac:chgData name="Anvi Kanyan" userId="f540ac27fc604c94" providerId="LiveId" clId="{325FA43B-C87D-4C6A-A9BB-4D67E1788274}" dt="2026-09-12T16:30:41.086" v="196" actId="255"/>
          <ac:spMkLst>
            <pc:docMk/>
            <pc:sldMk cId="1604013440" sldId="338"/>
            <ac:spMk id="3" creationId="{17F04107-8754-E47D-3375-529E689711FA}"/>
          </ac:spMkLst>
        </pc:spChg>
        <pc:spChg chg="mod">
          <ac:chgData name="Anvi Kanyan" userId="f540ac27fc604c94" providerId="LiveId" clId="{325FA43B-C87D-4C6A-A9BB-4D67E1788274}" dt="2026-09-12T16:28:40.757" v="185" actId="115"/>
          <ac:spMkLst>
            <pc:docMk/>
            <pc:sldMk cId="1604013440" sldId="338"/>
            <ac:spMk id="4" creationId="{92056599-CDAA-4367-BEF8-31D6E32518C8}"/>
          </ac:spMkLst>
        </pc:spChg>
        <pc:spChg chg="add mod">
          <ac:chgData name="Anvi Kanyan" userId="f540ac27fc604c94" providerId="LiveId" clId="{325FA43B-C87D-4C6A-A9BB-4D67E1788274}" dt="2026-09-12T16:31:58.776" v="204" actId="1076"/>
          <ac:spMkLst>
            <pc:docMk/>
            <pc:sldMk cId="1604013440" sldId="338"/>
            <ac:spMk id="5" creationId="{80D673F4-E5DB-36F8-4827-D6122DC66F42}"/>
          </ac:spMkLst>
        </pc:spChg>
        <pc:spChg chg="add mod">
          <ac:chgData name="Anvi Kanyan" userId="f540ac27fc604c94" providerId="LiveId" clId="{325FA43B-C87D-4C6A-A9BB-4D67E1788274}" dt="2026-09-12T16:31:38.072" v="202" actId="113"/>
          <ac:spMkLst>
            <pc:docMk/>
            <pc:sldMk cId="1604013440" sldId="338"/>
            <ac:spMk id="7" creationId="{BB3BB4D5-6C65-64C6-D692-7C493CD38A94}"/>
          </ac:spMkLst>
        </pc:spChg>
      </pc:sldChg>
      <pc:sldChg chg="del">
        <pc:chgData name="Anvi Kanyan" userId="f540ac27fc604c94" providerId="LiveId" clId="{325FA43B-C87D-4C6A-A9BB-4D67E1788274}" dt="2026-09-12T16:33:38.525" v="214" actId="2696"/>
        <pc:sldMkLst>
          <pc:docMk/>
          <pc:sldMk cId="1086225493" sldId="339"/>
        </pc:sldMkLst>
      </pc:sldChg>
      <pc:sldChg chg="addSp delSp modSp mod">
        <pc:chgData name="Anvi Kanyan" userId="f540ac27fc604c94" providerId="LiveId" clId="{325FA43B-C87D-4C6A-A9BB-4D67E1788274}" dt="2026-09-12T17:01:15.713" v="260" actId="6549"/>
        <pc:sldMkLst>
          <pc:docMk/>
          <pc:sldMk cId="3863610428" sldId="342"/>
        </pc:sldMkLst>
        <pc:spChg chg="add del mod">
          <ac:chgData name="Anvi Kanyan" userId="f540ac27fc604c94" providerId="LiveId" clId="{325FA43B-C87D-4C6A-A9BB-4D67E1788274}" dt="2026-09-12T16:59:40.556" v="244" actId="478"/>
          <ac:spMkLst>
            <pc:docMk/>
            <pc:sldMk cId="3863610428" sldId="342"/>
            <ac:spMk id="2" creationId="{9DC4DB77-23CC-DD78-D7A3-BF6D8D84370E}"/>
          </ac:spMkLst>
        </pc:spChg>
        <pc:spChg chg="add mod">
          <ac:chgData name="Anvi Kanyan" userId="f540ac27fc604c94" providerId="LiveId" clId="{325FA43B-C87D-4C6A-A9BB-4D67E1788274}" dt="2026-09-12T17:00:06.143" v="248" actId="767"/>
          <ac:spMkLst>
            <pc:docMk/>
            <pc:sldMk cId="3863610428" sldId="342"/>
            <ac:spMk id="3" creationId="{A30F5FE5-A402-38D0-4E9A-C7B2C484BE73}"/>
          </ac:spMkLst>
        </pc:spChg>
        <pc:spChg chg="add mod">
          <ac:chgData name="Anvi Kanyan" userId="f540ac27fc604c94" providerId="LiveId" clId="{325FA43B-C87D-4C6A-A9BB-4D67E1788274}" dt="2026-09-12T17:01:15.713" v="260" actId="6549"/>
          <ac:spMkLst>
            <pc:docMk/>
            <pc:sldMk cId="3863610428" sldId="342"/>
            <ac:spMk id="6" creationId="{3E63B960-D545-C5C5-F742-02DEB1C7654A}"/>
          </ac:spMkLst>
        </pc:spChg>
        <pc:spChg chg="mod">
          <ac:chgData name="Anvi Kanyan" userId="f540ac27fc604c94" providerId="LiveId" clId="{325FA43B-C87D-4C6A-A9BB-4D67E1788274}" dt="2026-09-12T17:00:01.759" v="246" actId="14100"/>
          <ac:spMkLst>
            <pc:docMk/>
            <pc:sldMk cId="3863610428" sldId="342"/>
            <ac:spMk id="7" creationId="{AF1C8809-654A-4DD1-BB18-87B8B6C020B9}"/>
          </ac:spMkLst>
        </pc:spChg>
      </pc:sldChg>
      <pc:sldChg chg="addSp modSp mod">
        <pc:chgData name="Anvi Kanyan" userId="f540ac27fc604c94" providerId="LiveId" clId="{325FA43B-C87D-4C6A-A9BB-4D67E1788274}" dt="2026-09-12T16:40:41.129" v="219" actId="14100"/>
        <pc:sldMkLst>
          <pc:docMk/>
          <pc:sldMk cId="3962802212" sldId="343"/>
        </pc:sldMkLst>
        <pc:picChg chg="add mod">
          <ac:chgData name="Anvi Kanyan" userId="f540ac27fc604c94" providerId="LiveId" clId="{325FA43B-C87D-4C6A-A9BB-4D67E1788274}" dt="2026-09-12T16:40:41.129" v="219" actId="14100"/>
          <ac:picMkLst>
            <pc:docMk/>
            <pc:sldMk cId="3962802212" sldId="343"/>
            <ac:picMk id="3" creationId="{D617FB93-2D31-0A23-106B-4EDBAE78EE87}"/>
          </ac:picMkLst>
        </pc:picChg>
      </pc:sldChg>
      <pc:sldChg chg="del">
        <pc:chgData name="Anvi Kanyan" userId="f540ac27fc604c94" providerId="LiveId" clId="{325FA43B-C87D-4C6A-A9BB-4D67E1788274}" dt="2026-09-12T16:33:44.832" v="215" actId="2696"/>
        <pc:sldMkLst>
          <pc:docMk/>
          <pc:sldMk cId="2539637863" sldId="35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7</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238452" cy="743448"/>
          </a:xfrm>
        </p:spPr>
        <p:txBody>
          <a:bodyPr>
            <a:normAutofit fontScale="90000"/>
          </a:bodyPr>
          <a:lstStyle/>
          <a:p>
            <a:r>
              <a:rPr lang="en-GB" sz="3100" b="1" u="sng" dirty="0">
                <a:latin typeface="Arial" panose="020B0604020202020204" pitchFamily="34" charset="0"/>
                <a:cs typeface="Arial" panose="020B0604020202020204" pitchFamily="34" charset="0"/>
              </a:rPr>
              <a:t>Project Title </a:t>
            </a:r>
            <a:r>
              <a:rPr lang="en-GB" sz="3100" dirty="0">
                <a:latin typeface="Arial" panose="020B0604020202020204" pitchFamily="34" charset="0"/>
                <a:cs typeface="Arial" panose="020B0604020202020204" pitchFamily="34" charset="0"/>
              </a:rPr>
              <a:t>–</a:t>
            </a:r>
            <a:r>
              <a:rPr lang="en-IN" sz="3100" b="1" dirty="0">
                <a:latin typeface="Arial" panose="020B0604020202020204" pitchFamily="34" charset="0"/>
                <a:cs typeface="Arial" panose="020B0604020202020204" pitchFamily="34" charset="0"/>
              </a:rPr>
              <a:t>Seasonal Agriculture Performance Analysis</a:t>
            </a:r>
            <a:br>
              <a:rPr lang="en-IN" b="1"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752727"/>
            <a:ext cx="8130610" cy="461665"/>
          </a:xfrm>
          <a:prstGeom prst="rect">
            <a:avLst/>
          </a:prstGeom>
          <a:noFill/>
        </p:spPr>
        <p:txBody>
          <a:bodyPr wrap="square" rtlCol="0">
            <a:spAutoFit/>
          </a:bodyPr>
          <a:lstStyle/>
          <a:p>
            <a:r>
              <a:rPr lang="en-US" sz="2400" b="1" dirty="0"/>
              <a:t>AICTE STU ID : </a:t>
            </a:r>
            <a:r>
              <a:rPr lang="en-IN" sz="2400" dirty="0"/>
              <a:t>STU669f33d6f31c31721709526 </a:t>
            </a:r>
            <a:endParaRPr lang="en-US" sz="2400" b="1" dirty="0"/>
          </a:p>
        </p:txBody>
      </p:sp>
      <p:sp>
        <p:nvSpPr>
          <p:cNvPr id="5" name="TextBox 4">
            <a:extLst>
              <a:ext uri="{FF2B5EF4-FFF2-40B4-BE49-F238E27FC236}">
                <a16:creationId xmlns:a16="http://schemas.microsoft.com/office/drawing/2014/main" id="{80D673F4-E5DB-36F8-4827-D6122DC66F42}"/>
              </a:ext>
            </a:extLst>
          </p:cNvPr>
          <p:cNvSpPr txBox="1"/>
          <p:nvPr/>
        </p:nvSpPr>
        <p:spPr>
          <a:xfrm>
            <a:off x="723374" y="3774313"/>
            <a:ext cx="8130610" cy="461665"/>
          </a:xfrm>
          <a:prstGeom prst="rect">
            <a:avLst/>
          </a:prstGeom>
          <a:noFill/>
        </p:spPr>
        <p:txBody>
          <a:bodyPr wrap="square" rtlCol="0">
            <a:spAutoFit/>
          </a:bodyPr>
          <a:lstStyle/>
          <a:p>
            <a:r>
              <a:rPr lang="en-IN" sz="2400" b="1" dirty="0"/>
              <a:t>Name : </a:t>
            </a:r>
            <a:r>
              <a:rPr lang="en-IN" sz="2400" dirty="0"/>
              <a:t>Anvi Kanyan</a:t>
            </a:r>
          </a:p>
        </p:txBody>
      </p:sp>
      <p:sp>
        <p:nvSpPr>
          <p:cNvPr id="7" name="TextBox 6">
            <a:extLst>
              <a:ext uri="{FF2B5EF4-FFF2-40B4-BE49-F238E27FC236}">
                <a16:creationId xmlns:a16="http://schemas.microsoft.com/office/drawing/2014/main" id="{BB3BB4D5-6C65-64C6-D692-7C493CD38A94}"/>
              </a:ext>
            </a:extLst>
          </p:cNvPr>
          <p:cNvSpPr txBox="1"/>
          <p:nvPr/>
        </p:nvSpPr>
        <p:spPr>
          <a:xfrm>
            <a:off x="675956" y="4287494"/>
            <a:ext cx="8225447" cy="461665"/>
          </a:xfrm>
          <a:prstGeom prst="rect">
            <a:avLst/>
          </a:prstGeom>
          <a:noFill/>
        </p:spPr>
        <p:txBody>
          <a:bodyPr wrap="square" rtlCol="0">
            <a:spAutoFit/>
          </a:bodyPr>
          <a:lstStyle/>
          <a:p>
            <a:r>
              <a:rPr lang="en-IN" sz="2400" b="1" dirty="0"/>
              <a:t>College : </a:t>
            </a:r>
            <a:r>
              <a:rPr lang="en-IN" sz="2400" dirty="0"/>
              <a:t>UIET, Maharshi Dayanand University, Rohtak</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51721" y="1875453"/>
            <a:ext cx="9573209" cy="4596468"/>
          </a:xfrm>
        </p:spPr>
        <p:txBody>
          <a:bodyPr vert="horz" lIns="91440" tIns="45720" rIns="91440" bIns="45720" rtlCol="0" anchor="t">
            <a:normAutofit fontScale="70000" lnSpcReduction="20000"/>
          </a:bodyPr>
          <a:lstStyle/>
          <a:p>
            <a:pPr marL="0" indent="0">
              <a:lnSpc>
                <a:spcPct val="100000"/>
              </a:lnSpc>
              <a:buNone/>
            </a:pPr>
            <a:r>
              <a:rPr lang="en-IN" sz="3400" b="1" dirty="0">
                <a:latin typeface="Arial" panose="020B0604020202020204" pitchFamily="34" charset="0"/>
                <a:cs typeface="Arial" panose="020B0604020202020204" pitchFamily="34" charset="0"/>
              </a:rPr>
              <a:t>Core Problem:</a:t>
            </a:r>
            <a:r>
              <a:rPr lang="en-IN" sz="3400" dirty="0">
                <a:latin typeface="Arial" panose="020B0604020202020204" pitchFamily="34" charset="0"/>
                <a:cs typeface="Arial" panose="020B0604020202020204" pitchFamily="34" charset="0"/>
              </a:rPr>
              <a:t> How does agricultural performance vary across seasons, and what meaningful patterns, relationships, and significant differences can be identified from the available data?</a:t>
            </a:r>
          </a:p>
          <a:p>
            <a:r>
              <a:rPr lang="en-IN" sz="3400" dirty="0">
                <a:latin typeface="Arial" panose="020B0604020202020204" pitchFamily="34" charset="0"/>
                <a:cs typeface="Arial" panose="020B0604020202020204" pitchFamily="34" charset="0"/>
              </a:rPr>
              <a:t>Agricultural performance is influenced by </a:t>
            </a:r>
            <a:r>
              <a:rPr lang="en-IN" sz="3400" b="1" dirty="0">
                <a:latin typeface="Arial" panose="020B0604020202020204" pitchFamily="34" charset="0"/>
                <a:cs typeface="Arial" panose="020B0604020202020204" pitchFamily="34" charset="0"/>
              </a:rPr>
              <a:t>seasonal conditions, environmental factors, resource utilization, crop production, and economic factors</a:t>
            </a:r>
            <a:r>
              <a:rPr lang="en-IN" sz="3400" dirty="0">
                <a:latin typeface="Arial" panose="020B0604020202020204" pitchFamily="34" charset="0"/>
                <a:cs typeface="Arial" panose="020B0604020202020204" pitchFamily="34" charset="0"/>
              </a:rPr>
              <a:t>. However, raw agricultural data does not clearly reveal how these factors vary across seasons or how they are associated with agricultural outcomes.</a:t>
            </a:r>
          </a:p>
          <a:p>
            <a:r>
              <a:rPr lang="en-IN" sz="3400" dirty="0">
                <a:latin typeface="Arial" panose="020B0604020202020204" pitchFamily="34" charset="0"/>
                <a:cs typeface="Arial" panose="020B0604020202020204" pitchFamily="34" charset="0"/>
              </a:rPr>
              <a:t>This project uses </a:t>
            </a:r>
            <a:r>
              <a:rPr lang="en-IN" sz="3400" b="1" dirty="0">
                <a:latin typeface="Arial" panose="020B0604020202020204" pitchFamily="34" charset="0"/>
                <a:cs typeface="Arial" panose="020B0604020202020204" pitchFamily="34" charset="0"/>
              </a:rPr>
              <a:t>data analytics, visualization, correlation analysis, outlier detection, and statistical techniques</a:t>
            </a:r>
            <a:r>
              <a:rPr lang="en-IN" sz="3400" dirty="0">
                <a:latin typeface="Arial" panose="020B0604020202020204" pitchFamily="34" charset="0"/>
                <a:cs typeface="Arial" panose="020B0604020202020204" pitchFamily="34" charset="0"/>
              </a:rPr>
              <a:t> to </a:t>
            </a:r>
            <a:r>
              <a:rPr lang="en-IN" sz="3400" dirty="0" err="1">
                <a:latin typeface="Arial" panose="020B0604020202020204" pitchFamily="34" charset="0"/>
                <a:cs typeface="Arial" panose="020B0604020202020204" pitchFamily="34" charset="0"/>
              </a:rPr>
              <a:t>analyze</a:t>
            </a:r>
            <a:r>
              <a:rPr lang="en-IN" sz="3400" dirty="0">
                <a:latin typeface="Arial" panose="020B0604020202020204" pitchFamily="34" charset="0"/>
                <a:cs typeface="Arial" panose="020B0604020202020204" pitchFamily="34" charset="0"/>
              </a:rPr>
              <a:t> seasonal variations in </a:t>
            </a:r>
            <a:r>
              <a:rPr lang="en-IN" sz="3400" b="1" dirty="0">
                <a:latin typeface="Arial" panose="020B0604020202020204" pitchFamily="34" charset="0"/>
                <a:cs typeface="Arial" panose="020B0604020202020204" pitchFamily="34" charset="0"/>
              </a:rPr>
              <a:t>yield, water efficiency, production, and profit</a:t>
            </a:r>
            <a:r>
              <a:rPr lang="en-IN" sz="3400" dirty="0">
                <a:latin typeface="Arial" panose="020B0604020202020204" pitchFamily="34" charset="0"/>
                <a:cs typeface="Arial" panose="020B0604020202020204" pitchFamily="34" charset="0"/>
              </a:rPr>
              <a:t>, and to identify meaningful patterns and significant differences across </a:t>
            </a:r>
            <a:r>
              <a:rPr lang="en-IN" sz="3400" b="1" dirty="0">
                <a:latin typeface="Arial" panose="020B0604020202020204" pitchFamily="34" charset="0"/>
                <a:cs typeface="Arial" panose="020B0604020202020204" pitchFamily="34" charset="0"/>
              </a:rPr>
              <a:t>Kharif, Rabi, and Zaid seasons</a:t>
            </a:r>
            <a:r>
              <a:rPr lang="en-IN" sz="3400" dirty="0">
                <a:latin typeface="Arial" panose="020B0604020202020204" pitchFamily="34" charset="0"/>
                <a:cs typeface="Arial" panose="020B0604020202020204" pitchFamily="34" charset="0"/>
              </a:rPr>
              <a:t>.</a:t>
            </a:r>
          </a:p>
          <a:p>
            <a:pPr marL="0" indent="0">
              <a:lnSpc>
                <a:spcPct val="100000"/>
              </a:lnSpc>
              <a:buNone/>
            </a:pPr>
            <a:endParaRPr lang="en-IN" sz="3600" dirty="0">
              <a:latin typeface="Arial" panose="020B0604020202020204" pitchFamily="34" charset="0"/>
              <a:cs typeface="Arial" panose="020B0604020202020204" pitchFamily="34" charset="0"/>
            </a:endParaRPr>
          </a:p>
          <a:p>
            <a:pPr marL="0" indent="0">
              <a:lnSpc>
                <a:spcPct val="100000"/>
              </a:lnSpc>
              <a:buNone/>
            </a:pPr>
            <a:endParaRPr lang="en-IN" sz="24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931470" cy="830997"/>
          </a:xfrm>
        </p:spPr>
        <p:txBody>
          <a:bodyPr>
            <a:normAutofit fontScale="90000"/>
          </a:bodyPr>
          <a:lstStyle/>
          <a:p>
            <a:r>
              <a:rPr lang="en-GB" dirty="0"/>
              <a:t>Project Description</a:t>
            </a:r>
            <a:br>
              <a:rPr lang="en-GB" dirty="0"/>
            </a:br>
            <a:br>
              <a:rPr lang="en-IN" dirty="0"/>
            </a:br>
            <a:r>
              <a:rPr lang="en-IN" sz="2700" b="0" dirty="0">
                <a:latin typeface="Arial" panose="020B0604020202020204" pitchFamily="34" charset="0"/>
                <a:cs typeface="Arial" panose="020B0604020202020204" pitchFamily="34" charset="0"/>
              </a:rPr>
              <a:t>This project focuses on the data-driven analysis of agricultural activities across different seasons. The dataset contains information related to crop production, yield, environmental conditions, resource utilization, water efficiency, and economic performance across different agricultural conditions.</a:t>
            </a:r>
            <a:br>
              <a:rPr lang="en-IN" sz="2700" b="0" dirty="0">
                <a:latin typeface="Arial" panose="020B0604020202020204" pitchFamily="34" charset="0"/>
                <a:cs typeface="Arial" panose="020B0604020202020204" pitchFamily="34" charset="0"/>
              </a:rPr>
            </a:br>
            <a:r>
              <a:rPr lang="en-IN" sz="2700" b="0" dirty="0">
                <a:latin typeface="Arial" panose="020B0604020202020204" pitchFamily="34" charset="0"/>
                <a:cs typeface="Arial" panose="020B0604020202020204" pitchFamily="34" charset="0"/>
              </a:rPr>
              <a:t>The project applies data cleaning, exploratory data analysis, statistical analysis, correlation analysis, outlier detection, and data visualization to understand how agricultural performance changes across Kharif, Rabi, and Zaid seasons.</a:t>
            </a:r>
            <a:br>
              <a:rPr lang="en-IN" sz="2700" b="0" dirty="0">
                <a:latin typeface="Arial" panose="020B0604020202020204" pitchFamily="34" charset="0"/>
                <a:cs typeface="Arial" panose="020B0604020202020204" pitchFamily="34" charset="0"/>
              </a:rPr>
            </a:br>
            <a:endParaRPr lang="en-IN" sz="27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D9070F-48B3-AFD1-AB7F-88FDBBAE510B}"/>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3" name="TextBox 2">
            <a:extLst>
              <a:ext uri="{FF2B5EF4-FFF2-40B4-BE49-F238E27FC236}">
                <a16:creationId xmlns:a16="http://schemas.microsoft.com/office/drawing/2014/main" id="{CFE14E64-AD5D-B69A-0FDF-48ECF46B5F10}"/>
              </a:ext>
            </a:extLst>
          </p:cNvPr>
          <p:cNvSpPr txBox="1"/>
          <p:nvPr/>
        </p:nvSpPr>
        <p:spPr>
          <a:xfrm>
            <a:off x="858416" y="457200"/>
            <a:ext cx="9442580" cy="3970318"/>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The analysis compares key performance indicators such as crop yield, water efficiency, production, and profit, while examining relationships between relevant agricultural variables. Statistical techniques such as ANOVA are used to determine whether observed seasonal differences are statistically significant.</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The final outcome is to transform raw agricultural data into meaningful seasonal insights, evidence-based findings, and practical recommendations that can support better understanding and planning of agricultural activities.</a:t>
            </a:r>
            <a:br>
              <a:rPr lang="en-IN" dirty="0">
                <a:latin typeface="Arial" panose="020B0604020202020204" pitchFamily="34" charset="0"/>
                <a:cs typeface="Arial" panose="020B0604020202020204" pitchFamily="34" charset="0"/>
              </a:rPr>
            </a:br>
            <a:br>
              <a:rPr lang="en-GB" dirty="0">
                <a:latin typeface="Arial" panose="020B0604020202020204" pitchFamily="34" charset="0"/>
                <a:cs typeface="Arial" panose="020B0604020202020204" pitchFamily="34" charset="0"/>
              </a:rPr>
            </a:br>
            <a:endParaRPr lang="en-IN" dirty="0"/>
          </a:p>
        </p:txBody>
      </p:sp>
    </p:spTree>
    <p:extLst>
      <p:ext uri="{BB962C8B-B14F-4D97-AF65-F5344CB8AC3E}">
        <p14:creationId xmlns:p14="http://schemas.microsoft.com/office/powerpoint/2010/main" val="2778739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68012" y="2093997"/>
            <a:ext cx="7904481" cy="3990023"/>
          </a:xfrm>
        </p:spPr>
        <p:txBody>
          <a:bodyPr>
            <a:normAutofit fontScale="25000" lnSpcReduction="20000"/>
          </a:bodyPr>
          <a:lstStyle/>
          <a:p>
            <a:pPr marL="0" indent="0">
              <a:buNone/>
            </a:pPr>
            <a:r>
              <a:rPr lang="en-IN" sz="9600" dirty="0">
                <a:latin typeface="Arial" panose="020B0604020202020204" pitchFamily="34" charset="0"/>
                <a:cs typeface="Arial" panose="020B0604020202020204" pitchFamily="34" charset="0"/>
              </a:rPr>
              <a:t>The insights generated from this project can be useful to stakeholders involved in </a:t>
            </a:r>
            <a:r>
              <a:rPr lang="en-IN" sz="9600" b="1" dirty="0">
                <a:latin typeface="Arial" panose="020B0604020202020204" pitchFamily="34" charset="0"/>
                <a:cs typeface="Arial" panose="020B0604020202020204" pitchFamily="34" charset="0"/>
              </a:rPr>
              <a:t>agricultural planning, resource management, and decision-making</a:t>
            </a:r>
            <a:r>
              <a:rPr lang="en-IN" sz="9600" dirty="0">
                <a:latin typeface="Arial" panose="020B0604020202020204" pitchFamily="34" charset="0"/>
                <a:cs typeface="Arial" panose="020B0604020202020204" pitchFamily="34" charset="0"/>
              </a:rPr>
              <a:t>.</a:t>
            </a:r>
          </a:p>
          <a:p>
            <a:r>
              <a:rPr lang="en-IN" sz="9600" b="1" dirty="0">
                <a:latin typeface="Arial" panose="020B0604020202020204" pitchFamily="34" charset="0"/>
                <a:cs typeface="Arial" panose="020B0604020202020204" pitchFamily="34" charset="0"/>
              </a:rPr>
              <a:t>Farmers &amp; Farm Managers</a:t>
            </a:r>
            <a:br>
              <a:rPr lang="en-IN" sz="9600" dirty="0">
                <a:latin typeface="Arial" panose="020B0604020202020204" pitchFamily="34" charset="0"/>
                <a:cs typeface="Arial" panose="020B0604020202020204" pitchFamily="34" charset="0"/>
              </a:rPr>
            </a:br>
            <a:r>
              <a:rPr lang="en-IN" sz="9600" dirty="0">
                <a:latin typeface="Arial" panose="020B0604020202020204" pitchFamily="34" charset="0"/>
                <a:cs typeface="Arial" panose="020B0604020202020204" pitchFamily="34" charset="0"/>
              </a:rPr>
              <a:t>Can use seasonal insights on yield, water efficiency, resource usage, and profitability to compare farming performance across seasons and support better crop and resource planning.</a:t>
            </a:r>
          </a:p>
          <a:p>
            <a:endParaRPr lang="en-IN" sz="9600" dirty="0">
              <a:latin typeface="Arial" panose="020B0604020202020204" pitchFamily="34" charset="0"/>
              <a:cs typeface="Arial" panose="020B0604020202020204" pitchFamily="34" charset="0"/>
            </a:endParaRPr>
          </a:p>
          <a:p>
            <a:pPr>
              <a:buClr>
                <a:schemeClr val="tx1">
                  <a:lumMod val="95000"/>
                  <a:lumOff val="5000"/>
                </a:schemeClr>
              </a:buClr>
            </a:pPr>
            <a:r>
              <a:rPr lang="en-IN" sz="9600" b="1" dirty="0">
                <a:latin typeface="Arial" panose="020B0604020202020204" pitchFamily="34" charset="0"/>
                <a:cs typeface="Arial" panose="020B0604020202020204" pitchFamily="34" charset="0"/>
              </a:rPr>
              <a:t>Agricultural Departments &amp; Policymakers</a:t>
            </a:r>
            <a:br>
              <a:rPr lang="en-IN" sz="9600" dirty="0">
                <a:latin typeface="Arial" panose="020B0604020202020204" pitchFamily="34" charset="0"/>
                <a:cs typeface="Arial" panose="020B0604020202020204" pitchFamily="34" charset="0"/>
              </a:rPr>
            </a:br>
            <a:r>
              <a:rPr lang="en-IN" sz="9600" dirty="0">
                <a:latin typeface="Arial" panose="020B0604020202020204" pitchFamily="34" charset="0"/>
                <a:cs typeface="Arial" panose="020B0604020202020204" pitchFamily="34" charset="0"/>
              </a:rPr>
              <a:t>Can use aggregated seasonal patterns to understand variations in agricultural performance and support </a:t>
            </a:r>
            <a:r>
              <a:rPr lang="en-IN" sz="9600" b="1" dirty="0">
                <a:latin typeface="Arial" panose="020B0604020202020204" pitchFamily="34" charset="0"/>
                <a:cs typeface="Arial" panose="020B0604020202020204" pitchFamily="34" charset="0"/>
              </a:rPr>
              <a:t>evidence-based planning, resource allocation, and seasonal agricultural policies</a:t>
            </a:r>
            <a:r>
              <a:rPr lang="en-IN" sz="9600" dirty="0">
                <a:latin typeface="Arial" panose="020B0604020202020204" pitchFamily="34" charset="0"/>
                <a:cs typeface="Arial" panose="020B0604020202020204" pitchFamily="34" charset="0"/>
              </a:rPr>
              <a: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400" dirty="0"/>
              <a:t>WHO ARE THE END USERS?</a:t>
            </a:r>
            <a:endParaRPr lang="en-IN" sz="44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F978D3-EC0D-477E-2640-775FEB2DE3B1}"/>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3" name="TextBox 2">
            <a:extLst>
              <a:ext uri="{FF2B5EF4-FFF2-40B4-BE49-F238E27FC236}">
                <a16:creationId xmlns:a16="http://schemas.microsoft.com/office/drawing/2014/main" id="{0D66E8A5-B484-50AC-7FC3-53C03841E04D}"/>
              </a:ext>
            </a:extLst>
          </p:cNvPr>
          <p:cNvSpPr txBox="1"/>
          <p:nvPr/>
        </p:nvSpPr>
        <p:spPr>
          <a:xfrm>
            <a:off x="681135" y="447869"/>
            <a:ext cx="9274627" cy="5539978"/>
          </a:xfrm>
          <a:prstGeom prst="rect">
            <a:avLst/>
          </a:prstGeom>
          <a:noFill/>
        </p:spPr>
        <p:txBody>
          <a:bodyPr wrap="square" rtlCol="0">
            <a:spAutoFit/>
          </a:bodyPr>
          <a:lstStyle/>
          <a:p>
            <a:pPr marL="342900" indent="-342900">
              <a:buFont typeface="Wingdings" panose="05000000000000000000" pitchFamily="2" charset="2"/>
              <a:buChar char="§"/>
            </a:pPr>
            <a:r>
              <a:rPr lang="en-IN" sz="2400" b="1" dirty="0">
                <a:latin typeface="Arial" panose="020B0604020202020204" pitchFamily="34" charset="0"/>
                <a:cs typeface="Arial" panose="020B0604020202020204" pitchFamily="34" charset="0"/>
              </a:rPr>
              <a:t>Agribusinesses &amp; Resource Planners</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Can use information about </a:t>
            </a:r>
            <a:r>
              <a:rPr lang="en-IN" sz="2400" b="1" dirty="0">
                <a:latin typeface="Arial" panose="020B0604020202020204" pitchFamily="34" charset="0"/>
                <a:cs typeface="Arial" panose="020B0604020202020204" pitchFamily="34" charset="0"/>
              </a:rPr>
              <a:t>production, profitability, and                           resource utilization</a:t>
            </a:r>
            <a:r>
              <a:rPr lang="en-IN" sz="2400" dirty="0">
                <a:latin typeface="Arial" panose="020B0604020202020204" pitchFamily="34" charset="0"/>
                <a:cs typeface="Arial" panose="020B0604020202020204" pitchFamily="34" charset="0"/>
              </a:rPr>
              <a:t> to improve operational planning and   understand seasonal market and production patterns.</a:t>
            </a:r>
          </a:p>
          <a:p>
            <a:endParaRPr lang="en-IN"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pPr>
            <a:r>
              <a:rPr lang="en-IN" sz="2400" b="1" dirty="0">
                <a:latin typeface="Arial" panose="020B0604020202020204" pitchFamily="34" charset="0"/>
                <a:cs typeface="Arial" panose="020B0604020202020204" pitchFamily="34" charset="0"/>
              </a:rPr>
              <a:t>Students &amp; Educational Institutions</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Can use </a:t>
            </a:r>
            <a:r>
              <a:rPr lang="en-IN" sz="2400" dirty="0" err="1">
                <a:latin typeface="Arial" panose="020B0604020202020204" pitchFamily="34" charset="0"/>
                <a:cs typeface="Arial" panose="020B0604020202020204" pitchFamily="34" charset="0"/>
              </a:rPr>
              <a:t>th</a:t>
            </a:r>
            <a:r>
              <a:rPr lang="en-IN" sz="2400" dirty="0">
                <a:latin typeface="Arial" panose="020B0604020202020204" pitchFamily="34" charset="0"/>
                <a:cs typeface="Arial" panose="020B0604020202020204" pitchFamily="34" charset="0"/>
              </a:rPr>
              <a:t> project as an example of applying </a:t>
            </a:r>
            <a:r>
              <a:rPr lang="en-IN" sz="2400" b="1" dirty="0">
                <a:latin typeface="Arial" panose="020B0604020202020204" pitchFamily="34" charset="0"/>
                <a:cs typeface="Arial" panose="020B0604020202020204" pitchFamily="34" charset="0"/>
              </a:rPr>
              <a:t>data analytics,                                   visualization, correlation, outlier detection, and statistical analysis</a:t>
            </a:r>
            <a:r>
              <a:rPr lang="en-IN" sz="2400" dirty="0">
                <a:latin typeface="Arial" panose="020B0604020202020204" pitchFamily="34" charset="0"/>
                <a:cs typeface="Arial" panose="020B0604020202020204" pitchFamily="34" charset="0"/>
              </a:rPr>
              <a:t> e to a real-world agricultural problem.</a:t>
            </a:r>
          </a:p>
          <a:p>
            <a:endParaRPr lang="en-IN"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pPr>
            <a:r>
              <a:rPr lang="en-IN" sz="2400" b="1" dirty="0">
                <a:latin typeface="Arial" panose="020B0604020202020204" pitchFamily="34" charset="0"/>
                <a:cs typeface="Arial" panose="020B0604020202020204" pitchFamily="34" charset="0"/>
              </a:rPr>
              <a:t>Researchers &amp; Analysts</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Can use the </a:t>
            </a:r>
            <a:r>
              <a:rPr lang="en-IN" sz="2400" dirty="0" err="1">
                <a:latin typeface="Arial" panose="020B0604020202020204" pitchFamily="34" charset="0"/>
                <a:cs typeface="Arial" panose="020B0604020202020204" pitchFamily="34" charset="0"/>
              </a:rPr>
              <a:t>analyzed</a:t>
            </a:r>
            <a:r>
              <a:rPr lang="en-IN" sz="2400" dirty="0">
                <a:latin typeface="Arial" panose="020B0604020202020204" pitchFamily="34" charset="0"/>
                <a:cs typeface="Arial" panose="020B0604020202020204" pitchFamily="34" charset="0"/>
              </a:rPr>
              <a:t> relationships, trends, and statistical findings as a basis for </a:t>
            </a:r>
            <a:r>
              <a:rPr lang="en-IN" sz="2400" b="1" dirty="0">
                <a:latin typeface="Arial" panose="020B0604020202020204" pitchFamily="34" charset="0"/>
                <a:cs typeface="Arial" panose="020B0604020202020204" pitchFamily="34" charset="0"/>
              </a:rPr>
              <a:t>further research, predictive modelling, and investigation of factors affecting agricultural outcomes</a:t>
            </a:r>
            <a:r>
              <a:rPr lang="en-IN" sz="2400" dirty="0">
                <a:latin typeface="Arial" panose="020B0604020202020204" pitchFamily="34" charset="0"/>
                <a:cs typeface="Arial" panose="020B0604020202020204" pitchFamily="34" charset="0"/>
              </a:rPr>
              <a:t>.</a:t>
            </a:r>
          </a:p>
          <a:p>
            <a:endParaRPr lang="en-IN" dirty="0"/>
          </a:p>
        </p:txBody>
      </p:sp>
    </p:spTree>
    <p:extLst>
      <p:ext uri="{BB962C8B-B14F-4D97-AF65-F5344CB8AC3E}">
        <p14:creationId xmlns:p14="http://schemas.microsoft.com/office/powerpoint/2010/main" val="854871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0025225" y="171891"/>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807276"/>
            <a:ext cx="8503920" cy="5243448"/>
          </a:xfrm>
        </p:spPr>
        <p:txBody>
          <a:bodyPr>
            <a:normAutofit fontScale="25000" lnSpcReduction="20000"/>
          </a:bodyPr>
          <a:lstStyle/>
          <a:p>
            <a:endParaRPr lang="en-IN" sz="9600" b="1" dirty="0">
              <a:latin typeface="Arial" panose="020B0604020202020204" pitchFamily="34" charset="0"/>
              <a:cs typeface="Arial" panose="020B0604020202020204" pitchFamily="34" charset="0"/>
            </a:endParaRPr>
          </a:p>
          <a:p>
            <a:pPr>
              <a:buClr>
                <a:schemeClr val="tx1">
                  <a:lumMod val="85000"/>
                  <a:lumOff val="15000"/>
                </a:schemeClr>
              </a:buClr>
              <a:buFont typeface="Wingdings" panose="05000000000000000000" pitchFamily="2" charset="2"/>
              <a:buChar char="Ø"/>
            </a:pPr>
            <a:r>
              <a:rPr lang="en-IN" sz="11200" b="1" u="sng" dirty="0">
                <a:latin typeface="Arial" panose="020B0604020202020204" pitchFamily="34" charset="0"/>
                <a:cs typeface="Arial" panose="020B0604020202020204" pitchFamily="34" charset="0"/>
              </a:rPr>
              <a:t>Python</a:t>
            </a:r>
          </a:p>
          <a:p>
            <a:pPr marL="457200" lvl="1" indent="0">
              <a:lnSpc>
                <a:spcPct val="120000"/>
              </a:lnSpc>
              <a:buNone/>
            </a:pPr>
            <a:r>
              <a:rPr lang="en-IN" sz="9600" dirty="0">
                <a:latin typeface="Arial" panose="020B0604020202020204" pitchFamily="34" charset="0"/>
                <a:cs typeface="Arial" panose="020B0604020202020204" pitchFamily="34" charset="0"/>
              </a:rPr>
              <a:t>Python was used as the primary programming language for the Seasonal Agriculture Analysis project. It was used throughout the complete data-analysis process, including loading the agricultural dataset, inspecting and cleaning the data, performing numerical calculations, </a:t>
            </a:r>
            <a:r>
              <a:rPr lang="en-IN" sz="9600" dirty="0" err="1">
                <a:latin typeface="Arial" panose="020B0604020202020204" pitchFamily="34" charset="0"/>
                <a:cs typeface="Arial" panose="020B0604020202020204" pitchFamily="34" charset="0"/>
              </a:rPr>
              <a:t>analyzing</a:t>
            </a:r>
            <a:r>
              <a:rPr lang="en-IN" sz="9600" dirty="0">
                <a:latin typeface="Arial" panose="020B0604020202020204" pitchFamily="34" charset="0"/>
                <a:cs typeface="Arial" panose="020B0604020202020204" pitchFamily="34" charset="0"/>
              </a:rPr>
              <a:t> seasonal variations, generating visualizations, detecting outliers, performing correlation analysis, and conducting statistical tests. Python was selected because it provides a simple and efficient environment for handling large amounts of structured data and has several specialized libraries that support data analysis and statistical computing.</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FCE7BA-58B2-C29A-A9E0-3638B414B590}"/>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4" name="TextBox 3">
            <a:extLst>
              <a:ext uri="{FF2B5EF4-FFF2-40B4-BE49-F238E27FC236}">
                <a16:creationId xmlns:a16="http://schemas.microsoft.com/office/drawing/2014/main" id="{4AFA956B-1E2A-6C49-7977-339B6D6135F8}"/>
              </a:ext>
            </a:extLst>
          </p:cNvPr>
          <p:cNvSpPr txBox="1"/>
          <p:nvPr/>
        </p:nvSpPr>
        <p:spPr>
          <a:xfrm>
            <a:off x="625150" y="1408922"/>
            <a:ext cx="9218645" cy="5293757"/>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Google </a:t>
            </a:r>
            <a:r>
              <a:rPr lang="en-IN" sz="2800" b="1" u="sng" dirty="0" err="1">
                <a:latin typeface="Arial" panose="020B0604020202020204" pitchFamily="34" charset="0"/>
                <a:cs typeface="Arial" panose="020B0604020202020204" pitchFamily="34" charset="0"/>
              </a:rPr>
              <a:t>Colab</a:t>
            </a:r>
            <a:r>
              <a:rPr lang="en-IN" sz="2800" b="1" u="sng" dirty="0">
                <a:latin typeface="Arial" panose="020B0604020202020204" pitchFamily="34" charset="0"/>
                <a:cs typeface="Arial" panose="020B0604020202020204" pitchFamily="34" charset="0"/>
              </a:rPr>
              <a:t> </a:t>
            </a:r>
          </a:p>
          <a:p>
            <a:endParaRPr lang="en-IN" sz="2800" b="1" dirty="0"/>
          </a:p>
          <a:p>
            <a:r>
              <a:rPr lang="en-IN" sz="2400" dirty="0">
                <a:latin typeface="Arial" panose="020B0604020202020204" pitchFamily="34" charset="0"/>
                <a:cs typeface="Arial" panose="020B0604020202020204" pitchFamily="34" charset="0"/>
              </a:rPr>
              <a:t>Google </a:t>
            </a:r>
            <a:r>
              <a:rPr lang="en-IN" sz="2400" dirty="0" err="1">
                <a:latin typeface="Arial" panose="020B0604020202020204" pitchFamily="34" charset="0"/>
                <a:cs typeface="Arial" panose="020B0604020202020204" pitchFamily="34" charset="0"/>
              </a:rPr>
              <a:t>Colab</a:t>
            </a:r>
            <a:r>
              <a:rPr lang="en-IN" sz="2400" dirty="0">
                <a:latin typeface="Arial" panose="020B0604020202020204" pitchFamily="34" charset="0"/>
                <a:cs typeface="Arial" panose="020B0604020202020204" pitchFamily="34" charset="0"/>
              </a:rPr>
              <a:t> was used as the main development and execution     environment for the project. It is a cloud-based platform that allows    Python code to be written and executed directly in a web browser without requiring extensive local software installation. The complete analysis, including data loading, preprocessing, exploratory data analysis, visualization, statistical calculations, correlation analysis, outlier detection, and ANOVA, was performed in Google </a:t>
            </a:r>
            <a:r>
              <a:rPr lang="en-IN" sz="2400" dirty="0" err="1">
                <a:latin typeface="Arial" panose="020B0604020202020204" pitchFamily="34" charset="0"/>
                <a:cs typeface="Arial" panose="020B0604020202020204" pitchFamily="34" charset="0"/>
              </a:rPr>
              <a:t>Colab</a:t>
            </a:r>
            <a:r>
              <a:rPr lang="en-IN" sz="2400" dirty="0">
                <a:latin typeface="Arial" panose="020B0604020202020204" pitchFamily="34" charset="0"/>
                <a:cs typeface="Arial" panose="020B0604020202020204" pitchFamily="34" charset="0"/>
              </a:rPr>
              <a:t>. It also allowed the code, output tables, graphs, and explanations to be organized together in notebook format, making the complete analysis easy to execute, document, and present.</a:t>
            </a:r>
          </a:p>
          <a:p>
            <a:endParaRPr lang="en-IN" dirty="0"/>
          </a:p>
        </p:txBody>
      </p:sp>
    </p:spTree>
    <p:extLst>
      <p:ext uri="{BB962C8B-B14F-4D97-AF65-F5344CB8AC3E}">
        <p14:creationId xmlns:p14="http://schemas.microsoft.com/office/powerpoint/2010/main" val="4275765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C2BAE-B475-F365-C8BA-0FDCE402282A}"/>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3" name="TextBox 2">
            <a:extLst>
              <a:ext uri="{FF2B5EF4-FFF2-40B4-BE49-F238E27FC236}">
                <a16:creationId xmlns:a16="http://schemas.microsoft.com/office/drawing/2014/main" id="{41E3C5C7-AFE9-9420-44B3-FF5C66EA375F}"/>
              </a:ext>
            </a:extLst>
          </p:cNvPr>
          <p:cNvSpPr txBox="1"/>
          <p:nvPr/>
        </p:nvSpPr>
        <p:spPr>
          <a:xfrm>
            <a:off x="793102" y="550506"/>
            <a:ext cx="8480900" cy="5663089"/>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Pandas</a:t>
            </a:r>
          </a:p>
          <a:p>
            <a:endParaRPr lang="en-IN" sz="28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Pandas was used for data handling and manipulation throughout the project. The agricultural dataset was loaded and represented as a Pandas </a:t>
            </a:r>
            <a:r>
              <a:rPr lang="en-IN" sz="2400" dirty="0" err="1">
                <a:latin typeface="Arial" panose="020B0604020202020204" pitchFamily="34" charset="0"/>
                <a:cs typeface="Arial" panose="020B0604020202020204" pitchFamily="34" charset="0"/>
              </a:rPr>
              <a:t>DataFrame</a:t>
            </a:r>
            <a:r>
              <a:rPr lang="en-IN" sz="2400" dirty="0">
                <a:latin typeface="Arial" panose="020B0604020202020204" pitchFamily="34" charset="0"/>
                <a:cs typeface="Arial" panose="020B0604020202020204" pitchFamily="34" charset="0"/>
              </a:rPr>
              <a:t>, allowing the data to be organized into rows and columns. Pandas was used to inspect the dataset, examine its structure and variables, check data quality, handle preprocessing requirements, filter records, group observations according to seasons, and calculate statistical summaries. It was particularly important for seasonal analysis because agricultural observations could be grouped into Kharif, Rabi, and Zaid seasons to calculate and compare performance indicators such as yield, water efficiency, and profit.</a:t>
            </a:r>
          </a:p>
          <a:p>
            <a:endParaRPr lang="en-IN" dirty="0"/>
          </a:p>
        </p:txBody>
      </p:sp>
    </p:spTree>
    <p:extLst>
      <p:ext uri="{BB962C8B-B14F-4D97-AF65-F5344CB8AC3E}">
        <p14:creationId xmlns:p14="http://schemas.microsoft.com/office/powerpoint/2010/main" val="76833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35D503-B7A8-D57A-A184-77F7A8945600}"/>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TextBox 2">
            <a:extLst>
              <a:ext uri="{FF2B5EF4-FFF2-40B4-BE49-F238E27FC236}">
                <a16:creationId xmlns:a16="http://schemas.microsoft.com/office/drawing/2014/main" id="{418DB5A4-274E-1C83-10E7-53B10A309CFE}"/>
              </a:ext>
            </a:extLst>
          </p:cNvPr>
          <p:cNvSpPr txBox="1"/>
          <p:nvPr/>
        </p:nvSpPr>
        <p:spPr>
          <a:xfrm>
            <a:off x="802433" y="783771"/>
            <a:ext cx="8378889" cy="4555093"/>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NumPy</a:t>
            </a:r>
          </a:p>
          <a:p>
            <a:pPr marL="457200" indent="-457200">
              <a:buFont typeface="Wingdings" panose="05000000000000000000" pitchFamily="2" charset="2"/>
              <a:buChar char="Ø"/>
            </a:pPr>
            <a:endParaRPr lang="en-IN" sz="2800" b="1" u="sng"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NumPy was used to support numerical and mathematical operations in the project. It provides efficient methods for working with numerical data and arrays and works closely with Pandas and other analytical libraries. Numerical calculations required during data analysis and statistical processing were supported by NumPy. It helped provide the computational foundation required for manipulating numerical agricultural variables and performing mathematical operations efficiently.</a:t>
            </a:r>
          </a:p>
          <a:p>
            <a:endParaRPr lang="en-IN" dirty="0"/>
          </a:p>
        </p:txBody>
      </p:sp>
    </p:spTree>
    <p:extLst>
      <p:ext uri="{BB962C8B-B14F-4D97-AF65-F5344CB8AC3E}">
        <p14:creationId xmlns:p14="http://schemas.microsoft.com/office/powerpoint/2010/main" val="2645077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158E7-CD0B-60B9-027E-7F7EBA3A7F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BF6B53-CC98-CA28-7FB8-948D5082F9D8}"/>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TextBox 2">
            <a:extLst>
              <a:ext uri="{FF2B5EF4-FFF2-40B4-BE49-F238E27FC236}">
                <a16:creationId xmlns:a16="http://schemas.microsoft.com/office/drawing/2014/main" id="{03199FB1-0E39-534D-51A6-3381D9FD2E58}"/>
              </a:ext>
            </a:extLst>
          </p:cNvPr>
          <p:cNvSpPr txBox="1"/>
          <p:nvPr/>
        </p:nvSpPr>
        <p:spPr>
          <a:xfrm>
            <a:off x="1017037" y="606490"/>
            <a:ext cx="7800392" cy="4924425"/>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Matplotlib</a:t>
            </a:r>
          </a:p>
          <a:p>
            <a:pPr marL="457200" indent="-457200">
              <a:buFont typeface="Wingdings" panose="05000000000000000000" pitchFamily="2" charset="2"/>
              <a:buChar char="Ø"/>
            </a:pPr>
            <a:endParaRPr lang="en-IN" sz="2800" b="1" u="sng"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Matplotlib was used for creating graphical representations of the agricultural data. Different charts and plots were generated to make the results easier to understand and compare visually. It was used for presenting seasonal comparisons and other analytical results, including the comparison of average water efficiency across Kharif, Rabi, and Zaid seasons. Graph titles, axis labels, figure sizes, and other presentation elements were also customized to make the visualizations clear and suitable for analysis.</a:t>
            </a:r>
          </a:p>
          <a:p>
            <a:endParaRPr lang="en-IN" dirty="0"/>
          </a:p>
        </p:txBody>
      </p:sp>
    </p:spTree>
    <p:extLst>
      <p:ext uri="{BB962C8B-B14F-4D97-AF65-F5344CB8AC3E}">
        <p14:creationId xmlns:p14="http://schemas.microsoft.com/office/powerpoint/2010/main" val="2466008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7DDE08-2CC0-75E3-92B0-86F31D8D1FC5}"/>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TextBox 2">
            <a:extLst>
              <a:ext uri="{FF2B5EF4-FFF2-40B4-BE49-F238E27FC236}">
                <a16:creationId xmlns:a16="http://schemas.microsoft.com/office/drawing/2014/main" id="{592803D5-E2A9-CB34-DD9E-E05BC0C2979D}"/>
              </a:ext>
            </a:extLst>
          </p:cNvPr>
          <p:cNvSpPr txBox="1"/>
          <p:nvPr/>
        </p:nvSpPr>
        <p:spPr>
          <a:xfrm>
            <a:off x="746449" y="597159"/>
            <a:ext cx="8276253" cy="4216539"/>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latin typeface="Arial" panose="020B0604020202020204" pitchFamily="34" charset="0"/>
                <a:cs typeface="Arial" panose="020B0604020202020204" pitchFamily="34" charset="0"/>
              </a:rPr>
              <a:t>Seaborn</a:t>
            </a:r>
          </a:p>
          <a:p>
            <a:pPr marL="457200" indent="-457200">
              <a:buFont typeface="Wingdings" panose="05000000000000000000" pitchFamily="2" charset="2"/>
              <a:buChar char="Ø"/>
            </a:pPr>
            <a:endParaRPr lang="en-IN" sz="24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Seaborn was used as a statistical data-visualization library to create informative and easy-to-understand graphical representations. It was used during exploratory data analysis to study distributions, comparisons, and relationships between variables. Seaborn also supported the visualization of correlations between numerical agricultural variables. Its integration with Matplotlib made it possible to create visually clear statistical graphs that helped identify patterns and relationships in the dataset.</a:t>
            </a:r>
          </a:p>
        </p:txBody>
      </p:sp>
    </p:spTree>
    <p:extLst>
      <p:ext uri="{BB962C8B-B14F-4D97-AF65-F5344CB8AC3E}">
        <p14:creationId xmlns:p14="http://schemas.microsoft.com/office/powerpoint/2010/main" val="3608127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241A-0BD8-4EC2-6211-C0136A4765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639BE8-6585-70D6-C3B2-E9BC12287275}"/>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3" name="TextBox 2">
            <a:extLst>
              <a:ext uri="{FF2B5EF4-FFF2-40B4-BE49-F238E27FC236}">
                <a16:creationId xmlns:a16="http://schemas.microsoft.com/office/drawing/2014/main" id="{4F11273E-0F8C-CDB8-875E-EE3FD7BD9274}"/>
              </a:ext>
            </a:extLst>
          </p:cNvPr>
          <p:cNvSpPr txBox="1"/>
          <p:nvPr/>
        </p:nvSpPr>
        <p:spPr>
          <a:xfrm>
            <a:off x="1138335" y="606490"/>
            <a:ext cx="8257592" cy="4924425"/>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SciPy</a:t>
            </a:r>
          </a:p>
          <a:p>
            <a:pPr marL="457200" indent="-457200">
              <a:buFont typeface="Wingdings" panose="05000000000000000000" pitchFamily="2" charset="2"/>
              <a:buChar char="Ø"/>
            </a:pPr>
            <a:endParaRPr lang="en-IN" sz="2800" b="1" u="sng"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SciPy was used for statistical analysis and hypothesis testing. In this project, it was particularly important for performing ANOVA, or Analysis of Variance, which was used to statistically compare agricultural performance across different seasons. SciPy provided the statistical calculations required to obtain values such as the F-statistic and p-value. This allowed the project to determine whether observed differences between seasonal groups were statistically significant rather than relying only on visual comparisons.</a:t>
            </a:r>
          </a:p>
          <a:p>
            <a:endParaRPr lang="en-IN" dirty="0"/>
          </a:p>
        </p:txBody>
      </p:sp>
    </p:spTree>
    <p:extLst>
      <p:ext uri="{BB962C8B-B14F-4D97-AF65-F5344CB8AC3E}">
        <p14:creationId xmlns:p14="http://schemas.microsoft.com/office/powerpoint/2010/main" val="3436410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DAB5C6-F349-40D4-966C-B26B5B103772}"/>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 name="TextBox 2">
            <a:extLst>
              <a:ext uri="{FF2B5EF4-FFF2-40B4-BE49-F238E27FC236}">
                <a16:creationId xmlns:a16="http://schemas.microsoft.com/office/drawing/2014/main" id="{32967563-7D68-119A-B564-A2B846D18FEA}"/>
              </a:ext>
            </a:extLst>
          </p:cNvPr>
          <p:cNvSpPr txBox="1"/>
          <p:nvPr/>
        </p:nvSpPr>
        <p:spPr>
          <a:xfrm>
            <a:off x="961053" y="653143"/>
            <a:ext cx="8733453" cy="5232202"/>
          </a:xfrm>
          <a:prstGeom prst="rect">
            <a:avLst/>
          </a:prstGeom>
          <a:noFill/>
        </p:spPr>
        <p:txBody>
          <a:bodyPr wrap="square" rtlCol="0">
            <a:spAutoFit/>
          </a:bodyPr>
          <a:lstStyle/>
          <a:p>
            <a:pPr marL="342900" indent="-3429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Data Cleaning and Preprocessing</a:t>
            </a:r>
          </a:p>
          <a:p>
            <a:endParaRPr lang="en-IN" sz="24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Data cleaning and preprocessing were performed before the main analysis to ensure that the agricultural dataset was suitable for reliable analysis. The dataset was inspected for data-quality issues such as missing values, duplicate records, incorrect data types, inconsistent values, and other irregularities. The purpose of this stage was to prepare a structured and reliable dataset for exploratory analysis, seasonal comparisons, visualization, correlation analysis, outlier detection, and statistical testing. Proper data cleaning is important because errors in the original data can directly affect analytical results and conclusions.</a:t>
            </a:r>
          </a:p>
          <a:p>
            <a:endParaRPr lang="en-IN" dirty="0"/>
          </a:p>
        </p:txBody>
      </p:sp>
    </p:spTree>
    <p:extLst>
      <p:ext uri="{BB962C8B-B14F-4D97-AF65-F5344CB8AC3E}">
        <p14:creationId xmlns:p14="http://schemas.microsoft.com/office/powerpoint/2010/main" val="1502282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AF1D-27A5-833B-2CA9-8EF3B5E87C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962491-8E17-04BC-9462-335158C86844}"/>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3" name="TextBox 2">
            <a:extLst>
              <a:ext uri="{FF2B5EF4-FFF2-40B4-BE49-F238E27FC236}">
                <a16:creationId xmlns:a16="http://schemas.microsoft.com/office/drawing/2014/main" id="{6869278E-8D58-6EA3-0547-8849B955817A}"/>
              </a:ext>
            </a:extLst>
          </p:cNvPr>
          <p:cNvSpPr txBox="1"/>
          <p:nvPr/>
        </p:nvSpPr>
        <p:spPr>
          <a:xfrm>
            <a:off x="1063690" y="662473"/>
            <a:ext cx="7903028" cy="5601533"/>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Exploratory Data Analysis</a:t>
            </a:r>
          </a:p>
          <a:p>
            <a:endParaRPr lang="en-IN" sz="24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Exploratory Data Analysis, or EDA, was performed to understand the structure, characteristics, and overall </a:t>
            </a:r>
            <a:r>
              <a:rPr lang="en-IN" sz="2400" dirty="0" err="1">
                <a:latin typeface="Arial" panose="020B0604020202020204" pitchFamily="34" charset="0"/>
                <a:cs typeface="Arial" panose="020B0604020202020204" pitchFamily="34" charset="0"/>
              </a:rPr>
              <a:t>behavior</a:t>
            </a:r>
            <a:r>
              <a:rPr lang="en-IN" sz="2400" dirty="0">
                <a:latin typeface="Arial" panose="020B0604020202020204" pitchFamily="34" charset="0"/>
                <a:cs typeface="Arial" panose="020B0604020202020204" pitchFamily="34" charset="0"/>
              </a:rPr>
              <a:t> of the agricultural dataset before applying statistical techniques. Numerical variables were examined using descriptive statistics such as mean, median, minimum, maximum, quartiles, and standard deviation. Graphical analysis was also performed to understand distributions, variations, patterns, and unusual observations. EDA provided an initial understanding of the data and helped determine which agricultural variables and relationships required further investigation.</a:t>
            </a:r>
          </a:p>
          <a:p>
            <a:endParaRPr lang="en-IN" dirty="0"/>
          </a:p>
        </p:txBody>
      </p:sp>
    </p:spTree>
    <p:extLst>
      <p:ext uri="{BB962C8B-B14F-4D97-AF65-F5344CB8AC3E}">
        <p14:creationId xmlns:p14="http://schemas.microsoft.com/office/powerpoint/2010/main" val="694652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B7A2D7-B261-9B0D-83A8-A07D76F94C89}"/>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3" name="TextBox 2">
            <a:extLst>
              <a:ext uri="{FF2B5EF4-FFF2-40B4-BE49-F238E27FC236}">
                <a16:creationId xmlns:a16="http://schemas.microsoft.com/office/drawing/2014/main" id="{78A06E7D-2DCF-A630-6472-6A8C41479007}"/>
              </a:ext>
            </a:extLst>
          </p:cNvPr>
          <p:cNvSpPr txBox="1"/>
          <p:nvPr/>
        </p:nvSpPr>
        <p:spPr>
          <a:xfrm>
            <a:off x="1436914" y="895739"/>
            <a:ext cx="7837088" cy="6186309"/>
          </a:xfrm>
          <a:prstGeom prst="rect">
            <a:avLst/>
          </a:prstGeom>
          <a:noFill/>
        </p:spPr>
        <p:txBody>
          <a:bodyPr wrap="square" rtlCol="0">
            <a:spAutoFit/>
          </a:bodyPr>
          <a:lstStyle/>
          <a:p>
            <a:pPr marL="342900" indent="-342900">
              <a:buFont typeface="Wingdings" panose="05000000000000000000" pitchFamily="2" charset="2"/>
              <a:buChar char="Ø"/>
            </a:pPr>
            <a:r>
              <a:rPr lang="en-IN" sz="2400" b="1" u="sng" dirty="0">
                <a:latin typeface="Arial" panose="020B0604020202020204" pitchFamily="34" charset="0"/>
                <a:cs typeface="Arial" panose="020B0604020202020204" pitchFamily="34" charset="0"/>
              </a:rPr>
              <a:t>Outlier Detection Using IQR</a:t>
            </a:r>
          </a:p>
          <a:p>
            <a:endParaRPr lang="en-IN" sz="24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Outlier detection was performed to identify unusually high or low observations in the yield data. The Interquartile Range, or IQR, method was applied to the </a:t>
            </a:r>
            <a:r>
              <a:rPr lang="en-IN" sz="2400" dirty="0" err="1">
                <a:latin typeface="Arial" panose="020B0604020202020204" pitchFamily="34" charset="0"/>
                <a:cs typeface="Arial" panose="020B0604020202020204" pitchFamily="34" charset="0"/>
              </a:rPr>
              <a:t>Yield_Tonnes_Ha</a:t>
            </a:r>
            <a:r>
              <a:rPr lang="en-IN" sz="2400" dirty="0">
                <a:latin typeface="Arial" panose="020B0604020202020204" pitchFamily="34" charset="0"/>
                <a:cs typeface="Arial" panose="020B0604020202020204" pitchFamily="34" charset="0"/>
              </a:rPr>
              <a:t> variable. The IQR is calculated as the difference between the third quartile and first quartile, and observations outside 1.5 times the IQR from the quartiles are considered potential outliers. The calculated upper limit was approximately 5.525 tonnes per hectare, and 302 potential yield outliers were detected. These observations were unusually high, but they were not automatically considered errors because they may represent genuine high-performing agricultural conditions.</a:t>
            </a:r>
          </a:p>
          <a:p>
            <a:endParaRPr lang="en-IN" b="1" dirty="0"/>
          </a:p>
          <a:p>
            <a:endParaRPr lang="en-IN" dirty="0"/>
          </a:p>
        </p:txBody>
      </p:sp>
    </p:spTree>
    <p:extLst>
      <p:ext uri="{BB962C8B-B14F-4D97-AF65-F5344CB8AC3E}">
        <p14:creationId xmlns:p14="http://schemas.microsoft.com/office/powerpoint/2010/main" val="1169796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91841D-15BB-17AB-9F74-6A18B427EF92}"/>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3" name="TextBox 2">
            <a:extLst>
              <a:ext uri="{FF2B5EF4-FFF2-40B4-BE49-F238E27FC236}">
                <a16:creationId xmlns:a16="http://schemas.microsoft.com/office/drawing/2014/main" id="{6AFC48AD-5350-214C-99F3-B03379A9F652}"/>
              </a:ext>
            </a:extLst>
          </p:cNvPr>
          <p:cNvSpPr txBox="1"/>
          <p:nvPr/>
        </p:nvSpPr>
        <p:spPr>
          <a:xfrm>
            <a:off x="1138335" y="961053"/>
            <a:ext cx="8135667" cy="6247864"/>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ANOVA Statistical Analysis</a:t>
            </a:r>
          </a:p>
          <a:p>
            <a:endParaRPr lang="en-IN" sz="24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One-way ANOVA, or Analysis of Variance, was used to determine whether differences between seasonal groups were statistically significant. The analysis compared agricultural observations across Kharif, Rabi, and Zaid seasons. ANOVA evaluates whether the variation between group means is sufficiently large compared with variation within the groups. The analysis produces an F-statistic and p-value, which are used to evaluate the null hypothesis that the group means are equal. A significance level of 0.05 was used for interpretation. This statistical technique strengthened the project by providing mathematical evidence for seasonal differences rather than depending only on graphs and average values.</a:t>
            </a:r>
          </a:p>
          <a:p>
            <a:endParaRPr lang="en-IN" b="1" dirty="0"/>
          </a:p>
          <a:p>
            <a:endParaRPr lang="en-IN" dirty="0"/>
          </a:p>
        </p:txBody>
      </p:sp>
    </p:spTree>
    <p:extLst>
      <p:ext uri="{BB962C8B-B14F-4D97-AF65-F5344CB8AC3E}">
        <p14:creationId xmlns:p14="http://schemas.microsoft.com/office/powerpoint/2010/main" val="3127308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086145-F4CD-E8F9-B5BD-EC566A30CAAD}"/>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
        <p:nvSpPr>
          <p:cNvPr id="3" name="TextBox 2">
            <a:extLst>
              <a:ext uri="{FF2B5EF4-FFF2-40B4-BE49-F238E27FC236}">
                <a16:creationId xmlns:a16="http://schemas.microsoft.com/office/drawing/2014/main" id="{C3BDE635-D2C2-F0D4-E656-9E5C26E87DC3}"/>
              </a:ext>
            </a:extLst>
          </p:cNvPr>
          <p:cNvSpPr txBox="1"/>
          <p:nvPr/>
        </p:nvSpPr>
        <p:spPr>
          <a:xfrm>
            <a:off x="914400" y="671804"/>
            <a:ext cx="8359602" cy="5139869"/>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Data Visualization</a:t>
            </a:r>
          </a:p>
          <a:p>
            <a:endParaRPr lang="en-IN" b="1" dirty="0"/>
          </a:p>
          <a:p>
            <a:r>
              <a:rPr lang="en-IN" sz="2400" dirty="0">
                <a:latin typeface="Arial" panose="020B0604020202020204" pitchFamily="34" charset="0"/>
                <a:cs typeface="Arial" panose="020B0604020202020204" pitchFamily="34" charset="0"/>
              </a:rPr>
              <a:t>Data visualization was used throughout the project to communicate analytical results in a clear and understandable form. Charts and graphs were created to compare seasons, study distributions, identify variations, examine relationships, and present important findings. Visualization makes complex numerical information easier to interpret and allows patterns that may not be immediately visible in raw tables to be identified. The visual results were considered together with descriptive and statistical analysis to provide a more complete interpretation of the agricultural data.</a:t>
            </a:r>
          </a:p>
          <a:p>
            <a:endParaRPr lang="en-IN" dirty="0"/>
          </a:p>
        </p:txBody>
      </p:sp>
    </p:spTree>
    <p:extLst>
      <p:ext uri="{BB962C8B-B14F-4D97-AF65-F5344CB8AC3E}">
        <p14:creationId xmlns:p14="http://schemas.microsoft.com/office/powerpoint/2010/main" val="3093733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814319-B63D-5F31-7BB9-DBBFC60D7BF4}"/>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3" name="TextBox 2">
            <a:extLst>
              <a:ext uri="{FF2B5EF4-FFF2-40B4-BE49-F238E27FC236}">
                <a16:creationId xmlns:a16="http://schemas.microsoft.com/office/drawing/2014/main" id="{3358DAC4-D662-60D0-20C8-45AA5FD31E4D}"/>
              </a:ext>
            </a:extLst>
          </p:cNvPr>
          <p:cNvSpPr txBox="1"/>
          <p:nvPr/>
        </p:nvSpPr>
        <p:spPr>
          <a:xfrm>
            <a:off x="989045" y="849086"/>
            <a:ext cx="8406882" cy="5509200"/>
          </a:xfrm>
          <a:prstGeom prst="rect">
            <a:avLst/>
          </a:prstGeom>
          <a:noFill/>
        </p:spPr>
        <p:txBody>
          <a:bodyPr wrap="square" rtlCol="0">
            <a:spAutoFit/>
          </a:bodyPr>
          <a:lstStyle/>
          <a:p>
            <a:pPr marL="457200" indent="-457200">
              <a:buFont typeface="Wingdings" panose="05000000000000000000" pitchFamily="2" charset="2"/>
              <a:buChar char="Ø"/>
            </a:pPr>
            <a:r>
              <a:rPr lang="en-IN" sz="2800" b="1" u="sng" dirty="0">
                <a:latin typeface="Arial" panose="020B0604020202020204" pitchFamily="34" charset="0"/>
                <a:cs typeface="Arial" panose="020B0604020202020204" pitchFamily="34" charset="0"/>
              </a:rPr>
              <a:t>Overall Analytical Approach</a:t>
            </a:r>
          </a:p>
          <a:p>
            <a:endParaRPr lang="en-IN" b="1" dirty="0"/>
          </a:p>
          <a:p>
            <a:r>
              <a:rPr lang="en-IN" sz="2400" dirty="0">
                <a:latin typeface="Arial" panose="020B0604020202020204" pitchFamily="34" charset="0"/>
                <a:cs typeface="Arial" panose="020B0604020202020204" pitchFamily="34" charset="0"/>
              </a:rPr>
              <a:t>The project combines programming, data processing, visualization, and statistical techniques to </a:t>
            </a:r>
            <a:r>
              <a:rPr lang="en-IN" sz="2400" dirty="0" err="1">
                <a:latin typeface="Arial" panose="020B0604020202020204" pitchFamily="34" charset="0"/>
                <a:cs typeface="Arial" panose="020B0604020202020204" pitchFamily="34" charset="0"/>
              </a:rPr>
              <a:t>analyze</a:t>
            </a:r>
            <a:r>
              <a:rPr lang="en-IN" sz="2400" dirty="0">
                <a:latin typeface="Arial" panose="020B0604020202020204" pitchFamily="34" charset="0"/>
                <a:cs typeface="Arial" panose="020B0604020202020204" pitchFamily="34" charset="0"/>
              </a:rPr>
              <a:t> seasonal agricultural performance. Python and Google </a:t>
            </a:r>
            <a:r>
              <a:rPr lang="en-IN" sz="2400" dirty="0" err="1">
                <a:latin typeface="Arial" panose="020B0604020202020204" pitchFamily="34" charset="0"/>
                <a:cs typeface="Arial" panose="020B0604020202020204" pitchFamily="34" charset="0"/>
              </a:rPr>
              <a:t>Colab</a:t>
            </a:r>
            <a:r>
              <a:rPr lang="en-IN" sz="2400" dirty="0">
                <a:latin typeface="Arial" panose="020B0604020202020204" pitchFamily="34" charset="0"/>
                <a:cs typeface="Arial" panose="020B0604020202020204" pitchFamily="34" charset="0"/>
              </a:rPr>
              <a:t> provided the development environment, while Pandas and NumPy supported data manipulation and numerical calculations. Matplotlib and Seaborn were used for visualization, and SciPy was used for statistical analysis. These technologies were combined with data cleaning, EDA, seasonal comparison, yield analysis, water-efficiency analysis, profit analysis, correlation analysis, IQR-based outlier detection, and ANOVA to transform the raw agricultural dataset into meaningful findings and recommendations.</a:t>
            </a:r>
          </a:p>
          <a:p>
            <a:endParaRPr lang="en-IN" dirty="0"/>
          </a:p>
        </p:txBody>
      </p:sp>
    </p:spTree>
    <p:extLst>
      <p:ext uri="{BB962C8B-B14F-4D97-AF65-F5344CB8AC3E}">
        <p14:creationId xmlns:p14="http://schemas.microsoft.com/office/powerpoint/2010/main" val="2070276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348A4A7C-E999-F8FC-C221-37FF792FC46D}"/>
              </a:ext>
            </a:extLst>
          </p:cNvPr>
          <p:cNvPicPr>
            <a:picLocks noChangeAspect="1"/>
          </p:cNvPicPr>
          <p:nvPr/>
        </p:nvPicPr>
        <p:blipFill>
          <a:blip r:embed="rId3"/>
          <a:stretch>
            <a:fillRect/>
          </a:stretch>
        </p:blipFill>
        <p:spPr>
          <a:xfrm>
            <a:off x="807163" y="1586205"/>
            <a:ext cx="8989979" cy="399642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05EAC214-3F88-510F-815A-51CE0415F5B7}"/>
              </a:ext>
            </a:extLst>
          </p:cNvPr>
          <p:cNvPicPr>
            <a:picLocks noChangeAspect="1"/>
          </p:cNvPicPr>
          <p:nvPr/>
        </p:nvPicPr>
        <p:blipFill>
          <a:blip r:embed="rId3"/>
          <a:stretch>
            <a:fillRect/>
          </a:stretch>
        </p:blipFill>
        <p:spPr>
          <a:xfrm>
            <a:off x="877078" y="1548882"/>
            <a:ext cx="7703258" cy="448802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9270887"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27BFD4B-AED5-7C12-D9D7-1B256B954EFE}"/>
              </a:ext>
            </a:extLst>
          </p:cNvPr>
          <p:cNvPicPr>
            <a:picLocks noChangeAspect="1"/>
          </p:cNvPicPr>
          <p:nvPr/>
        </p:nvPicPr>
        <p:blipFill>
          <a:blip r:embed="rId3"/>
          <a:stretch>
            <a:fillRect/>
          </a:stretch>
        </p:blipFill>
        <p:spPr>
          <a:xfrm>
            <a:off x="675957" y="1020871"/>
            <a:ext cx="9554251" cy="545104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3014AAF-6FEF-6AF8-E6D6-735AB8FF956D}"/>
              </a:ext>
            </a:extLst>
          </p:cNvPr>
          <p:cNvPicPr>
            <a:picLocks noChangeAspect="1"/>
          </p:cNvPicPr>
          <p:nvPr/>
        </p:nvPicPr>
        <p:blipFill>
          <a:blip r:embed="rId3"/>
          <a:stretch>
            <a:fillRect/>
          </a:stretch>
        </p:blipFill>
        <p:spPr>
          <a:xfrm>
            <a:off x="807165" y="1201585"/>
            <a:ext cx="9426854" cy="528582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8A07E4-73A0-C2FD-F57F-05923F2E885B}"/>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3" name="TextBox 2">
            <a:extLst>
              <a:ext uri="{FF2B5EF4-FFF2-40B4-BE49-F238E27FC236}">
                <a16:creationId xmlns:a16="http://schemas.microsoft.com/office/drawing/2014/main" id="{F9BAF0B7-5FD9-D540-90C2-31698ABC1A4F}"/>
              </a:ext>
            </a:extLst>
          </p:cNvPr>
          <p:cNvSpPr txBox="1"/>
          <p:nvPr/>
        </p:nvSpPr>
        <p:spPr>
          <a:xfrm>
            <a:off x="559837" y="317242"/>
            <a:ext cx="3422889" cy="830997"/>
          </a:xfrm>
          <a:prstGeom prst="rect">
            <a:avLst/>
          </a:prstGeom>
          <a:noFill/>
        </p:spPr>
        <p:txBody>
          <a:bodyPr wrap="square" rtlCol="0">
            <a:spAutoFit/>
          </a:bodyPr>
          <a:lstStyle/>
          <a:p>
            <a:r>
              <a:rPr lang="en-GB" sz="4800" dirty="0"/>
              <a:t>RESULTS </a:t>
            </a:r>
            <a:endParaRPr lang="en-IN" sz="4800" dirty="0"/>
          </a:p>
        </p:txBody>
      </p:sp>
      <p:pic>
        <p:nvPicPr>
          <p:cNvPr id="5" name="Picture 4">
            <a:extLst>
              <a:ext uri="{FF2B5EF4-FFF2-40B4-BE49-F238E27FC236}">
                <a16:creationId xmlns:a16="http://schemas.microsoft.com/office/drawing/2014/main" id="{1E420114-5A1F-A193-888F-2B99A4362BC8}"/>
              </a:ext>
            </a:extLst>
          </p:cNvPr>
          <p:cNvPicPr>
            <a:picLocks noChangeAspect="1"/>
          </p:cNvPicPr>
          <p:nvPr/>
        </p:nvPicPr>
        <p:blipFill>
          <a:blip r:embed="rId2"/>
          <a:stretch>
            <a:fillRect/>
          </a:stretch>
        </p:blipFill>
        <p:spPr>
          <a:xfrm>
            <a:off x="699797" y="1324946"/>
            <a:ext cx="9511360" cy="5081541"/>
          </a:xfrm>
          <a:prstGeom prst="rect">
            <a:avLst/>
          </a:prstGeom>
        </p:spPr>
      </p:pic>
    </p:spTree>
    <p:extLst>
      <p:ext uri="{BB962C8B-B14F-4D97-AF65-F5344CB8AC3E}">
        <p14:creationId xmlns:p14="http://schemas.microsoft.com/office/powerpoint/2010/main" val="3184003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7E3B45-E7CF-D314-CEBD-0148980211D3}"/>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
        <p:nvSpPr>
          <p:cNvPr id="3" name="TextBox 2">
            <a:extLst>
              <a:ext uri="{FF2B5EF4-FFF2-40B4-BE49-F238E27FC236}">
                <a16:creationId xmlns:a16="http://schemas.microsoft.com/office/drawing/2014/main" id="{1EF33305-04C2-7DA6-6FCE-DEFDBBB5AA89}"/>
              </a:ext>
            </a:extLst>
          </p:cNvPr>
          <p:cNvSpPr txBox="1"/>
          <p:nvPr/>
        </p:nvSpPr>
        <p:spPr>
          <a:xfrm>
            <a:off x="354564" y="335902"/>
            <a:ext cx="4048040" cy="1107996"/>
          </a:xfrm>
          <a:prstGeom prst="rect">
            <a:avLst/>
          </a:prstGeom>
          <a:noFill/>
        </p:spPr>
        <p:txBody>
          <a:bodyPr wrap="square" rtlCol="0">
            <a:spAutoFit/>
          </a:bodyPr>
          <a:lstStyle/>
          <a:p>
            <a:r>
              <a:rPr lang="en-GB" sz="4800" dirty="0"/>
              <a:t>RESULTS </a:t>
            </a:r>
            <a:endParaRPr lang="en-IN" sz="4800" dirty="0"/>
          </a:p>
          <a:p>
            <a:endParaRPr lang="en-IN" dirty="0"/>
          </a:p>
        </p:txBody>
      </p:sp>
      <p:pic>
        <p:nvPicPr>
          <p:cNvPr id="5" name="Picture 4">
            <a:extLst>
              <a:ext uri="{FF2B5EF4-FFF2-40B4-BE49-F238E27FC236}">
                <a16:creationId xmlns:a16="http://schemas.microsoft.com/office/drawing/2014/main" id="{792F16AE-4486-AD1B-7A1E-9C16AC99C724}"/>
              </a:ext>
            </a:extLst>
          </p:cNvPr>
          <p:cNvPicPr>
            <a:picLocks noChangeAspect="1"/>
          </p:cNvPicPr>
          <p:nvPr/>
        </p:nvPicPr>
        <p:blipFill>
          <a:blip r:embed="rId2"/>
          <a:stretch>
            <a:fillRect/>
          </a:stretch>
        </p:blipFill>
        <p:spPr>
          <a:xfrm>
            <a:off x="522514" y="1101012"/>
            <a:ext cx="9692453" cy="5421086"/>
          </a:xfrm>
          <a:prstGeom prst="rect">
            <a:avLst/>
          </a:prstGeom>
        </p:spPr>
      </p:pic>
    </p:spTree>
    <p:extLst>
      <p:ext uri="{BB962C8B-B14F-4D97-AF65-F5344CB8AC3E}">
        <p14:creationId xmlns:p14="http://schemas.microsoft.com/office/powerpoint/2010/main" val="3741307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0D8CD-39DD-5842-6C9D-25BCDAEF80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32988F-9287-4E1F-92D0-56C0A31F5DE3}"/>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3" name="TextBox 2">
            <a:extLst>
              <a:ext uri="{FF2B5EF4-FFF2-40B4-BE49-F238E27FC236}">
                <a16:creationId xmlns:a16="http://schemas.microsoft.com/office/drawing/2014/main" id="{F3A9C2CA-E91A-CA30-7509-785B3313495E}"/>
              </a:ext>
            </a:extLst>
          </p:cNvPr>
          <p:cNvSpPr txBox="1"/>
          <p:nvPr/>
        </p:nvSpPr>
        <p:spPr>
          <a:xfrm>
            <a:off x="354564" y="335902"/>
            <a:ext cx="4048040" cy="1107996"/>
          </a:xfrm>
          <a:prstGeom prst="rect">
            <a:avLst/>
          </a:prstGeom>
          <a:noFill/>
        </p:spPr>
        <p:txBody>
          <a:bodyPr wrap="square" rtlCol="0">
            <a:spAutoFit/>
          </a:bodyPr>
          <a:lstStyle/>
          <a:p>
            <a:r>
              <a:rPr lang="en-GB" sz="4800" dirty="0"/>
              <a:t>RESULTS </a:t>
            </a:r>
            <a:endParaRPr lang="en-IN" sz="4800" dirty="0"/>
          </a:p>
          <a:p>
            <a:endParaRPr lang="en-IN" dirty="0"/>
          </a:p>
        </p:txBody>
      </p:sp>
      <p:pic>
        <p:nvPicPr>
          <p:cNvPr id="5" name="Picture 4">
            <a:extLst>
              <a:ext uri="{FF2B5EF4-FFF2-40B4-BE49-F238E27FC236}">
                <a16:creationId xmlns:a16="http://schemas.microsoft.com/office/drawing/2014/main" id="{5606DCB9-8059-9553-0810-320F9249E740}"/>
              </a:ext>
            </a:extLst>
          </p:cNvPr>
          <p:cNvPicPr>
            <a:picLocks noChangeAspect="1"/>
          </p:cNvPicPr>
          <p:nvPr/>
        </p:nvPicPr>
        <p:blipFill>
          <a:blip r:embed="rId2"/>
          <a:stretch>
            <a:fillRect/>
          </a:stretch>
        </p:blipFill>
        <p:spPr>
          <a:xfrm>
            <a:off x="475860" y="1329765"/>
            <a:ext cx="11178075" cy="5076722"/>
          </a:xfrm>
          <a:prstGeom prst="rect">
            <a:avLst/>
          </a:prstGeom>
        </p:spPr>
      </p:pic>
    </p:spTree>
    <p:extLst>
      <p:ext uri="{BB962C8B-B14F-4D97-AF65-F5344CB8AC3E}">
        <p14:creationId xmlns:p14="http://schemas.microsoft.com/office/powerpoint/2010/main" val="1130385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52BBB-2C83-6414-1DA5-2196291967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30239C-C28E-736D-8D93-4FF78F654509}"/>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3" name="TextBox 2">
            <a:extLst>
              <a:ext uri="{FF2B5EF4-FFF2-40B4-BE49-F238E27FC236}">
                <a16:creationId xmlns:a16="http://schemas.microsoft.com/office/drawing/2014/main" id="{D71ECF4B-46CB-6E8C-3D08-A8FE55D9B824}"/>
              </a:ext>
            </a:extLst>
          </p:cNvPr>
          <p:cNvSpPr txBox="1"/>
          <p:nvPr/>
        </p:nvSpPr>
        <p:spPr>
          <a:xfrm>
            <a:off x="354564" y="335902"/>
            <a:ext cx="4048040" cy="1107996"/>
          </a:xfrm>
          <a:prstGeom prst="rect">
            <a:avLst/>
          </a:prstGeom>
          <a:noFill/>
        </p:spPr>
        <p:txBody>
          <a:bodyPr wrap="square" rtlCol="0">
            <a:spAutoFit/>
          </a:bodyPr>
          <a:lstStyle/>
          <a:p>
            <a:r>
              <a:rPr lang="en-GB" sz="4800" dirty="0"/>
              <a:t>RESULTS </a:t>
            </a:r>
            <a:endParaRPr lang="en-IN" sz="4800" dirty="0"/>
          </a:p>
          <a:p>
            <a:endParaRPr lang="en-IN" dirty="0"/>
          </a:p>
        </p:txBody>
      </p:sp>
      <p:pic>
        <p:nvPicPr>
          <p:cNvPr id="5" name="Picture 4">
            <a:extLst>
              <a:ext uri="{FF2B5EF4-FFF2-40B4-BE49-F238E27FC236}">
                <a16:creationId xmlns:a16="http://schemas.microsoft.com/office/drawing/2014/main" id="{2D256A73-DFC9-B8AE-8173-0C7501FE0BD5}"/>
              </a:ext>
            </a:extLst>
          </p:cNvPr>
          <p:cNvPicPr>
            <a:picLocks noChangeAspect="1"/>
          </p:cNvPicPr>
          <p:nvPr/>
        </p:nvPicPr>
        <p:blipFill>
          <a:blip r:embed="rId2"/>
          <a:stretch>
            <a:fillRect/>
          </a:stretch>
        </p:blipFill>
        <p:spPr>
          <a:xfrm>
            <a:off x="429208" y="1436941"/>
            <a:ext cx="11075437" cy="4969546"/>
          </a:xfrm>
          <a:prstGeom prst="rect">
            <a:avLst/>
          </a:prstGeom>
        </p:spPr>
      </p:pic>
    </p:spTree>
    <p:extLst>
      <p:ext uri="{BB962C8B-B14F-4D97-AF65-F5344CB8AC3E}">
        <p14:creationId xmlns:p14="http://schemas.microsoft.com/office/powerpoint/2010/main" val="4043146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C93A5-EDF5-49C8-88A9-5547321DE2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AA2D12-91F9-78E6-D2C8-F5AC473BFB86}"/>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3" name="TextBox 2">
            <a:extLst>
              <a:ext uri="{FF2B5EF4-FFF2-40B4-BE49-F238E27FC236}">
                <a16:creationId xmlns:a16="http://schemas.microsoft.com/office/drawing/2014/main" id="{DDEDB462-340D-4FB6-9C08-982CC8B99218}"/>
              </a:ext>
            </a:extLst>
          </p:cNvPr>
          <p:cNvSpPr txBox="1"/>
          <p:nvPr/>
        </p:nvSpPr>
        <p:spPr>
          <a:xfrm>
            <a:off x="354564" y="335902"/>
            <a:ext cx="4048040" cy="1107996"/>
          </a:xfrm>
          <a:prstGeom prst="rect">
            <a:avLst/>
          </a:prstGeom>
          <a:noFill/>
        </p:spPr>
        <p:txBody>
          <a:bodyPr wrap="square" rtlCol="0">
            <a:spAutoFit/>
          </a:bodyPr>
          <a:lstStyle/>
          <a:p>
            <a:r>
              <a:rPr lang="en-GB" sz="4800" dirty="0"/>
              <a:t>RESULTS </a:t>
            </a:r>
            <a:endParaRPr lang="en-IN" sz="4800" dirty="0"/>
          </a:p>
          <a:p>
            <a:endParaRPr lang="en-IN" dirty="0"/>
          </a:p>
        </p:txBody>
      </p:sp>
      <p:pic>
        <p:nvPicPr>
          <p:cNvPr id="5" name="Picture 4">
            <a:extLst>
              <a:ext uri="{FF2B5EF4-FFF2-40B4-BE49-F238E27FC236}">
                <a16:creationId xmlns:a16="http://schemas.microsoft.com/office/drawing/2014/main" id="{5390CFF0-21E5-804D-F106-C03917A41D3D}"/>
              </a:ext>
            </a:extLst>
          </p:cNvPr>
          <p:cNvPicPr>
            <a:picLocks noChangeAspect="1"/>
          </p:cNvPicPr>
          <p:nvPr/>
        </p:nvPicPr>
        <p:blipFill>
          <a:blip r:embed="rId2"/>
          <a:stretch>
            <a:fillRect/>
          </a:stretch>
        </p:blipFill>
        <p:spPr>
          <a:xfrm>
            <a:off x="522514" y="1240971"/>
            <a:ext cx="9715315" cy="5165516"/>
          </a:xfrm>
          <a:prstGeom prst="rect">
            <a:avLst/>
          </a:prstGeom>
        </p:spPr>
      </p:pic>
    </p:spTree>
    <p:extLst>
      <p:ext uri="{BB962C8B-B14F-4D97-AF65-F5344CB8AC3E}">
        <p14:creationId xmlns:p14="http://schemas.microsoft.com/office/powerpoint/2010/main" val="3235064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1AF25-8012-C1F2-7C6A-55E1F72363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188521-32A7-CD0E-000C-C4B85AFA8AB3}"/>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
        <p:nvSpPr>
          <p:cNvPr id="3" name="TextBox 2">
            <a:extLst>
              <a:ext uri="{FF2B5EF4-FFF2-40B4-BE49-F238E27FC236}">
                <a16:creationId xmlns:a16="http://schemas.microsoft.com/office/drawing/2014/main" id="{152AE20A-6209-AD66-79DD-B2D1C72B1D55}"/>
              </a:ext>
            </a:extLst>
          </p:cNvPr>
          <p:cNvSpPr txBox="1"/>
          <p:nvPr/>
        </p:nvSpPr>
        <p:spPr>
          <a:xfrm>
            <a:off x="354564" y="335902"/>
            <a:ext cx="4048040" cy="1107996"/>
          </a:xfrm>
          <a:prstGeom prst="rect">
            <a:avLst/>
          </a:prstGeom>
          <a:noFill/>
        </p:spPr>
        <p:txBody>
          <a:bodyPr wrap="square" rtlCol="0">
            <a:spAutoFit/>
          </a:bodyPr>
          <a:lstStyle/>
          <a:p>
            <a:r>
              <a:rPr lang="en-GB" sz="4800" dirty="0"/>
              <a:t>RESULTS </a:t>
            </a:r>
            <a:endParaRPr lang="en-IN" sz="4800" dirty="0"/>
          </a:p>
          <a:p>
            <a:endParaRPr lang="en-IN" dirty="0"/>
          </a:p>
        </p:txBody>
      </p:sp>
      <p:pic>
        <p:nvPicPr>
          <p:cNvPr id="5" name="Picture 4">
            <a:extLst>
              <a:ext uri="{FF2B5EF4-FFF2-40B4-BE49-F238E27FC236}">
                <a16:creationId xmlns:a16="http://schemas.microsoft.com/office/drawing/2014/main" id="{55FE962B-1D78-BED9-A2B0-9391B81E1DCF}"/>
              </a:ext>
            </a:extLst>
          </p:cNvPr>
          <p:cNvPicPr>
            <a:picLocks noChangeAspect="1"/>
          </p:cNvPicPr>
          <p:nvPr/>
        </p:nvPicPr>
        <p:blipFill>
          <a:blip r:embed="rId2"/>
          <a:stretch>
            <a:fillRect/>
          </a:stretch>
        </p:blipFill>
        <p:spPr>
          <a:xfrm>
            <a:off x="485192" y="1138335"/>
            <a:ext cx="9871788" cy="5383762"/>
          </a:xfrm>
          <a:prstGeom prst="rect">
            <a:avLst/>
          </a:prstGeom>
        </p:spPr>
      </p:pic>
    </p:spTree>
    <p:extLst>
      <p:ext uri="{BB962C8B-B14F-4D97-AF65-F5344CB8AC3E}">
        <p14:creationId xmlns:p14="http://schemas.microsoft.com/office/powerpoint/2010/main" val="2500192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3EC99610-E34E-FFFA-8C48-4DFB8853D861}"/>
              </a:ext>
            </a:extLst>
          </p:cNvPr>
          <p:cNvSpPr txBox="1"/>
          <p:nvPr/>
        </p:nvSpPr>
        <p:spPr>
          <a:xfrm>
            <a:off x="886408" y="1380931"/>
            <a:ext cx="8761445" cy="4616648"/>
          </a:xfrm>
          <a:prstGeom prst="rect">
            <a:avLst/>
          </a:prstGeom>
          <a:noFill/>
        </p:spPr>
        <p:txBody>
          <a:bodyPr wrap="square" rtlCol="0">
            <a:spAutoFit/>
          </a:bodyPr>
          <a:lstStyle/>
          <a:p>
            <a:r>
              <a:rPr lang="en-IN" sz="2400" dirty="0">
                <a:latin typeface="Arial" panose="020B0604020202020204" pitchFamily="34" charset="0"/>
                <a:cs typeface="Arial" panose="020B0604020202020204" pitchFamily="34" charset="0"/>
              </a:rPr>
              <a:t>The current project focuses on </a:t>
            </a:r>
            <a:r>
              <a:rPr lang="en-IN" sz="2400" dirty="0" err="1">
                <a:latin typeface="Arial" panose="020B0604020202020204" pitchFamily="34" charset="0"/>
                <a:cs typeface="Arial" panose="020B0604020202020204" pitchFamily="34" charset="0"/>
              </a:rPr>
              <a:t>analyzing</a:t>
            </a:r>
            <a:r>
              <a:rPr lang="en-IN" sz="2400" dirty="0">
                <a:latin typeface="Arial" panose="020B0604020202020204" pitchFamily="34" charset="0"/>
                <a:cs typeface="Arial" panose="020B0604020202020204" pitchFamily="34" charset="0"/>
              </a:rPr>
              <a:t> historical agricultural data using Python, data visualization, correlation analysis, outlier detection, and statistical techniques. In the future, this analytical framework can be technically enhanced into an intelligent agricultural decision-support system by incorporating machine learning, real-time environmental data, interactive dashboards, geographical analysis, and automated prediction. These improvements can make the system more dynamic, predictive, scalable, and useful for practical agricultural planning</a:t>
            </a:r>
            <a:r>
              <a:rPr lang="en-IN" dirty="0"/>
              <a:t>.</a:t>
            </a:r>
          </a:p>
          <a:p>
            <a:endParaRPr lang="en-IN" dirty="0"/>
          </a:p>
          <a:p>
            <a:endParaRPr lang="en-IN" dirty="0"/>
          </a:p>
          <a:p>
            <a:r>
              <a:rPr lang="en-IN" dirty="0"/>
              <a: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86B8F7-E929-50A8-5142-C18F3DFA8598}"/>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
        <p:nvSpPr>
          <p:cNvPr id="3" name="TextBox 2">
            <a:extLst>
              <a:ext uri="{FF2B5EF4-FFF2-40B4-BE49-F238E27FC236}">
                <a16:creationId xmlns:a16="http://schemas.microsoft.com/office/drawing/2014/main" id="{F2DB9435-3423-4EEE-EDAE-C6AEB899CE3B}"/>
              </a:ext>
            </a:extLst>
          </p:cNvPr>
          <p:cNvSpPr txBox="1"/>
          <p:nvPr/>
        </p:nvSpPr>
        <p:spPr>
          <a:xfrm>
            <a:off x="998376" y="690465"/>
            <a:ext cx="8640146" cy="6309420"/>
          </a:xfrm>
          <a:prstGeom prst="rect">
            <a:avLst/>
          </a:prstGeom>
          <a:noFill/>
        </p:spPr>
        <p:txBody>
          <a:bodyPr wrap="square" rtlCol="0">
            <a:spAutoFit/>
          </a:bodyPr>
          <a:lstStyle/>
          <a:p>
            <a:r>
              <a:rPr lang="en-IN" sz="2800" b="1" u="sng" dirty="0">
                <a:latin typeface="Arial" panose="020B0604020202020204" pitchFamily="34" charset="0"/>
                <a:cs typeface="Arial" panose="020B0604020202020204" pitchFamily="34" charset="0"/>
              </a:rPr>
              <a:t>Technical Enhancements</a:t>
            </a:r>
          </a:p>
          <a:p>
            <a:endParaRPr lang="en-IN" sz="2000" b="1" u="sng" dirty="0">
              <a:latin typeface="Arial" panose="020B0604020202020204" pitchFamily="34" charset="0"/>
              <a:cs typeface="Arial" panose="020B0604020202020204" pitchFamily="34" charset="0"/>
            </a:endParaRPr>
          </a:p>
          <a:p>
            <a:pPr marL="285750" lvl="0" indent="-285750">
              <a:buFont typeface="Wingdings" panose="05000000000000000000" pitchFamily="2" charset="2"/>
              <a:buChar char="q"/>
            </a:pPr>
            <a:r>
              <a:rPr lang="en-IN" sz="2000" b="1" dirty="0"/>
              <a:t>Machine Learning Prediction:</a:t>
            </a:r>
            <a:r>
              <a:rPr lang="en-IN" sz="2000" dirty="0"/>
              <a:t> Develop machine learning models to predict crop yield, production, water requirements, and profitability using historical agricultural and environmental data.</a:t>
            </a:r>
          </a:p>
          <a:p>
            <a:pPr lvl="0"/>
            <a:endParaRPr lang="en-IN" sz="2000" b="1" dirty="0"/>
          </a:p>
          <a:p>
            <a:pPr marL="285750" lvl="0" indent="-285750">
              <a:buFont typeface="Wingdings" panose="05000000000000000000" pitchFamily="2" charset="2"/>
              <a:buChar char="q"/>
            </a:pPr>
            <a:r>
              <a:rPr lang="en-IN" sz="2000" b="1" dirty="0"/>
              <a:t>Real-Time Data Integration:</a:t>
            </a:r>
            <a:r>
              <a:rPr lang="en-IN" sz="2000" dirty="0"/>
              <a:t> Integrate live weather, rainfall, temperature, soil moisture, and other environmental data through APIs or IoT sensors.</a:t>
            </a:r>
          </a:p>
          <a:p>
            <a:pPr marL="285750" lvl="0" indent="-285750">
              <a:buFont typeface="Wingdings" panose="05000000000000000000" pitchFamily="2" charset="2"/>
              <a:buChar char="q"/>
            </a:pPr>
            <a:endParaRPr lang="en-IN" sz="2000" dirty="0"/>
          </a:p>
          <a:p>
            <a:pPr marL="285750" lvl="0" indent="-285750">
              <a:buFont typeface="Wingdings" panose="05000000000000000000" pitchFamily="2" charset="2"/>
              <a:buChar char="q"/>
            </a:pPr>
            <a:r>
              <a:rPr lang="en-IN" sz="2000" b="1" dirty="0"/>
              <a:t>Interactive Dashboard:</a:t>
            </a:r>
            <a:r>
              <a:rPr lang="en-IN" sz="2000" dirty="0"/>
              <a:t> Convert the current analysis into an interactive application using </a:t>
            </a:r>
            <a:r>
              <a:rPr lang="en-IN" sz="2000" dirty="0" err="1"/>
              <a:t>Streamlit</a:t>
            </a:r>
            <a:r>
              <a:rPr lang="en-IN" sz="2000" dirty="0"/>
              <a:t>, Power BI, or Tableau, where users can dynamically select seasons, crops, regions, and performance indicators.</a:t>
            </a:r>
          </a:p>
          <a:p>
            <a:pPr lvl="0"/>
            <a:endParaRPr lang="en-IN" sz="2000" dirty="0"/>
          </a:p>
          <a:p>
            <a:pPr marL="285750" lvl="0" indent="-285750">
              <a:buFont typeface="Wingdings" panose="05000000000000000000" pitchFamily="2" charset="2"/>
              <a:buChar char="q"/>
            </a:pPr>
            <a:r>
              <a:rPr lang="en-IN" sz="2000" b="1" dirty="0"/>
              <a:t>Time-Series Analysis:</a:t>
            </a:r>
            <a:r>
              <a:rPr lang="en-IN" sz="2000" dirty="0"/>
              <a:t> Use multi-year agricultural data and time-series models to identify long-term seasonal trends and forecast future agricultural performance.</a:t>
            </a:r>
          </a:p>
          <a:p>
            <a:pPr marL="285750" lvl="0" indent="-285750">
              <a:buFont typeface="Wingdings" panose="05000000000000000000" pitchFamily="2" charset="2"/>
              <a:buChar char="q"/>
            </a:pPr>
            <a:endParaRPr lang="en-IN" dirty="0"/>
          </a:p>
          <a:p>
            <a:pPr lvl="0"/>
            <a:endParaRPr lang="en-IN" dirty="0"/>
          </a:p>
        </p:txBody>
      </p:sp>
    </p:spTree>
    <p:extLst>
      <p:ext uri="{BB962C8B-B14F-4D97-AF65-F5344CB8AC3E}">
        <p14:creationId xmlns:p14="http://schemas.microsoft.com/office/powerpoint/2010/main" val="1878642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ACEDC-F40B-6E33-DBD0-E0FA7C57BE99}"/>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
        <p:nvSpPr>
          <p:cNvPr id="3" name="TextBox 2">
            <a:extLst>
              <a:ext uri="{FF2B5EF4-FFF2-40B4-BE49-F238E27FC236}">
                <a16:creationId xmlns:a16="http://schemas.microsoft.com/office/drawing/2014/main" id="{7C576F83-A996-4054-38ED-D9DAD1930D0A}"/>
              </a:ext>
            </a:extLst>
          </p:cNvPr>
          <p:cNvSpPr txBox="1"/>
          <p:nvPr/>
        </p:nvSpPr>
        <p:spPr>
          <a:xfrm>
            <a:off x="914400" y="746449"/>
            <a:ext cx="8061649" cy="5293757"/>
          </a:xfrm>
          <a:prstGeom prst="rect">
            <a:avLst/>
          </a:prstGeom>
          <a:noFill/>
        </p:spPr>
        <p:txBody>
          <a:bodyPr wrap="square" rtlCol="0">
            <a:spAutoFit/>
          </a:bodyPr>
          <a:lstStyle/>
          <a:p>
            <a:pPr marL="342900" lvl="0" indent="-342900">
              <a:buFont typeface="Wingdings" panose="05000000000000000000" pitchFamily="2" charset="2"/>
              <a:buChar char="q"/>
            </a:pPr>
            <a:r>
              <a:rPr lang="en-IN" sz="2000" b="1" dirty="0"/>
              <a:t>Geographical Analysis:</a:t>
            </a:r>
            <a:r>
              <a:rPr lang="en-IN" sz="2000" dirty="0"/>
              <a:t> Incorporate GIS and location-based data to </a:t>
            </a:r>
            <a:r>
              <a:rPr lang="en-IN" sz="2000" dirty="0" err="1"/>
              <a:t>analyze</a:t>
            </a:r>
            <a:r>
              <a:rPr lang="en-IN" sz="2000" dirty="0"/>
              <a:t> regional differences in agricultural productivity and resource efficiency.</a:t>
            </a:r>
          </a:p>
          <a:p>
            <a:pPr marL="342900" lvl="0" indent="-342900">
              <a:buFont typeface="Wingdings" panose="05000000000000000000" pitchFamily="2" charset="2"/>
              <a:buChar char="q"/>
            </a:pPr>
            <a:endParaRPr lang="en-IN" sz="2000" dirty="0"/>
          </a:p>
          <a:p>
            <a:pPr marL="342900" lvl="0" indent="-342900">
              <a:buFont typeface="Wingdings" panose="05000000000000000000" pitchFamily="2" charset="2"/>
              <a:buChar char="q"/>
            </a:pPr>
            <a:r>
              <a:rPr lang="en-IN" sz="2000" b="1" dirty="0"/>
              <a:t>Advanced Outlier Detection:</a:t>
            </a:r>
            <a:r>
              <a:rPr lang="en-IN" sz="2000" dirty="0"/>
              <a:t> Replace or complement the current IQR method with techniques such as Isolation Forest or clustering to automatically detect unusual agricultural observations.</a:t>
            </a:r>
          </a:p>
          <a:p>
            <a:pPr marL="342900" lvl="0" indent="-342900">
              <a:buFont typeface="Wingdings" panose="05000000000000000000" pitchFamily="2" charset="2"/>
              <a:buChar char="q"/>
            </a:pPr>
            <a:endParaRPr lang="en-IN" sz="2000" dirty="0"/>
          </a:p>
          <a:p>
            <a:pPr marL="342900" lvl="0" indent="-342900">
              <a:buFont typeface="Wingdings" panose="05000000000000000000" pitchFamily="2" charset="2"/>
              <a:buChar char="q"/>
            </a:pPr>
            <a:r>
              <a:rPr lang="en-IN" sz="2000" b="1" dirty="0">
                <a:latin typeface="Arial" panose="020B0604020202020204" pitchFamily="34" charset="0"/>
                <a:cs typeface="Arial" panose="020B0604020202020204" pitchFamily="34" charset="0"/>
              </a:rPr>
              <a:t>Recommendation System:</a:t>
            </a:r>
            <a:r>
              <a:rPr lang="en-IN" sz="2000" dirty="0">
                <a:latin typeface="Arial" panose="020B0604020202020204" pitchFamily="34" charset="0"/>
                <a:cs typeface="Arial" panose="020B0604020202020204" pitchFamily="34" charset="0"/>
              </a:rPr>
              <a:t> Develop an intelligent recommendation system that can suggest suitable crops, resource allocation, and seasonal strategies based on historical and predicted conditions.</a:t>
            </a:r>
          </a:p>
          <a:p>
            <a:pPr marL="342900" lvl="0" indent="-342900">
              <a:buFont typeface="Wingdings" panose="05000000000000000000" pitchFamily="2" charset="2"/>
              <a:buChar char="q"/>
            </a:pPr>
            <a:endParaRPr lang="en-IN" sz="2000"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q"/>
            </a:pPr>
            <a:r>
              <a:rPr lang="en-IN" sz="2000" b="1" dirty="0">
                <a:latin typeface="Arial" panose="020B0604020202020204" pitchFamily="34" charset="0"/>
                <a:cs typeface="Arial" panose="020B0604020202020204" pitchFamily="34" charset="0"/>
              </a:rPr>
              <a:t>Automated Data Pipeline:</a:t>
            </a:r>
            <a:r>
              <a:rPr lang="en-IN" sz="2000" dirty="0">
                <a:latin typeface="Arial" panose="020B0604020202020204" pitchFamily="34" charset="0"/>
                <a:cs typeface="Arial" panose="020B0604020202020204" pitchFamily="34" charset="0"/>
              </a:rPr>
              <a:t> Create a pipeline that automatically collects, cleans,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and updates agricultural data whenever new records become available.</a:t>
            </a:r>
          </a:p>
          <a:p>
            <a:pPr lvl="0"/>
            <a:endParaRPr lang="en-IN" dirty="0"/>
          </a:p>
        </p:txBody>
      </p:sp>
    </p:spTree>
    <p:extLst>
      <p:ext uri="{BB962C8B-B14F-4D97-AF65-F5344CB8AC3E}">
        <p14:creationId xmlns:p14="http://schemas.microsoft.com/office/powerpoint/2010/main" val="1401865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675956" y="1275371"/>
            <a:ext cx="9301163"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3E63B960-D545-C5C5-F742-02DEB1C7654A}"/>
              </a:ext>
            </a:extLst>
          </p:cNvPr>
          <p:cNvSpPr txBox="1"/>
          <p:nvPr/>
        </p:nvSpPr>
        <p:spPr>
          <a:xfrm>
            <a:off x="554036" y="1572117"/>
            <a:ext cx="8813484" cy="830997"/>
          </a:xfrm>
          <a:prstGeom prst="rect">
            <a:avLst/>
          </a:prstGeom>
          <a:noFill/>
        </p:spPr>
        <p:txBody>
          <a:bodyPr wrap="square" rtlCol="0">
            <a:spAutoFit/>
          </a:bodyPr>
          <a:lstStyle/>
          <a:p>
            <a:r>
              <a:rPr lang="en-IN" sz="2400" b="1" u="sng" dirty="0"/>
              <a:t>github.com/Anvi0405/Seasonal-Agriculture-Performance-Analysis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617FB93-2D31-0A23-106B-4EDBAE78EE87}"/>
              </a:ext>
            </a:extLst>
          </p:cNvPr>
          <p:cNvPicPr>
            <a:picLocks noChangeAspect="1"/>
          </p:cNvPicPr>
          <p:nvPr/>
        </p:nvPicPr>
        <p:blipFill>
          <a:blip r:embed="rId3"/>
          <a:stretch>
            <a:fillRect/>
          </a:stretch>
        </p:blipFill>
        <p:spPr>
          <a:xfrm>
            <a:off x="762001" y="1452879"/>
            <a:ext cx="8351388" cy="521871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1262380"/>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188720" y="2397760"/>
            <a:ext cx="8869680" cy="2753360"/>
          </a:xfrm>
        </p:spPr>
        <p:txBody>
          <a:bodyPr>
            <a:normAutofit/>
          </a:bodyPr>
          <a:lstStyle/>
          <a:p>
            <a:pPr algn="l"/>
            <a:r>
              <a:rPr lang="en-IN" sz="2400" dirty="0">
                <a:solidFill>
                  <a:schemeClr val="tx1"/>
                </a:solidFill>
                <a:latin typeface="Arial" panose="020B0604020202020204" pitchFamily="34" charset="0"/>
                <a:cs typeface="Arial" panose="020B0604020202020204" pitchFamily="34" charset="0"/>
              </a:rPr>
              <a:t>My sincere gratitude to my mentor for the valuable sessions, detailed explanations, and continuous guidance throughout the VOIS Data Analytics Internship. Your mentorship and support greatly contributed to my learning and successful completion of this project.</a:t>
            </a:r>
          </a:p>
          <a:p>
            <a:pPr algn="l"/>
            <a:r>
              <a:rPr lang="en-IN" sz="2400" dirty="0">
                <a:solidFill>
                  <a:schemeClr val="tx1"/>
                </a:solidFill>
                <a:latin typeface="Arial" panose="020B0604020202020204" pitchFamily="34" charset="0"/>
                <a:cs typeface="Arial" panose="020B0604020202020204" pitchFamily="34" charset="0"/>
              </a:rPr>
              <a:t>Thank you for your time, guidance, and encouragement.</a:t>
            </a:r>
          </a:p>
          <a:p>
            <a:pPr algn="l"/>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1592</TotalTime>
  <Words>2125</Words>
  <Application>Microsoft Office PowerPoint</Application>
  <PresentationFormat>Widescreen</PresentationFormat>
  <Paragraphs>123</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This project focuses on the data-driven analysis of agricultural activities across different seasons. The dataset contains information related to crop production, yield, environmental conditions, resource utilization, water efficiency, and economic performance across different agricultural conditions. The project applies data cleaning, exploratory data analysis, statistical analysis, correlation analysis, outlier detection, and data visualization to understand how agricultural performance changes across Kharif, Rabi, and Zaid seasons. </vt:lpstr>
      <vt:lpstr>PowerPoint Presentation</vt:lpstr>
      <vt:lpstr>WHO ARE THE END USERS?</vt:lpstr>
      <vt:lpstr>PowerPoint Presentation</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vt:lpstr>
      <vt:lpstr>RESULTS </vt:lpstr>
      <vt:lpstr>RESULTS </vt:lpstr>
      <vt:lpstr>RESULTS </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lpstr>PowerPoint Presentation</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Anvi Kanyan</cp:lastModifiedBy>
  <cp:revision>99</cp:revision>
  <dcterms:created xsi:type="dcterms:W3CDTF">2021-07-11T13:13:15Z</dcterms:created>
  <dcterms:modified xsi:type="dcterms:W3CDTF">2026-09-12T17:08:05Z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